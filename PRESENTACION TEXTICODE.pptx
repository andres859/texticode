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Work Sans"/>
      <p:bold r:id="rId32"/>
      <p:boldItalic r:id="rId33"/>
    </p:embeddedFont>
    <p:embeddedFont>
      <p:font typeface="Work Sans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1StQpWTGbChzEIR6dNmR5Skjw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WorkSans-boldItalic.fntdata"/><Relationship Id="rId10" Type="http://schemas.openxmlformats.org/officeDocument/2006/relationships/slide" Target="slides/slide5.xml"/><Relationship Id="rId32" Type="http://schemas.openxmlformats.org/officeDocument/2006/relationships/font" Target="fonts/WorkSans-bold.fntdata"/><Relationship Id="rId13" Type="http://schemas.openxmlformats.org/officeDocument/2006/relationships/slide" Target="slides/slide8.xml"/><Relationship Id="rId35" Type="http://schemas.openxmlformats.org/officeDocument/2006/relationships/font" Target="fonts/WorkSansLight-bold.fntdata"/><Relationship Id="rId12" Type="http://schemas.openxmlformats.org/officeDocument/2006/relationships/slide" Target="slides/slide7.xml"/><Relationship Id="rId34" Type="http://schemas.openxmlformats.org/officeDocument/2006/relationships/font" Target="fonts/WorkSansLight-regular.fntdata"/><Relationship Id="rId15" Type="http://schemas.openxmlformats.org/officeDocument/2006/relationships/slide" Target="slides/slide10.xml"/><Relationship Id="rId37" Type="http://schemas.openxmlformats.org/officeDocument/2006/relationships/font" Target="fonts/WorkSans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WorkSans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c32e2ed6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81c32e2ed6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8d10d7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28d10d7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28d10d75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28d10d75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8d10d75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28d10d75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28d10d75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28d10d75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8d10d75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28d10d75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28d10d754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28d10d754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8d10d75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28d10d75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28d10d75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28d10d75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8.jp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TosudO8JLikDicc8Ex-7Va4dWE-66tit/edit?usp=drive_link&amp;ouid=113659387585359605470&amp;rtpof=true&amp;sd=true" TargetMode="External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docs.google.com/forms/d/e/1FAIpQLSf-RKvUDCraIcyOMUgIjDYKn3bmsXYWimLTlS92LObaUB3zjw/viewform?usp=header" TargetMode="External"/><Relationship Id="rId5" Type="http://schemas.openxmlformats.org/officeDocument/2006/relationships/hyperlink" Target="https://docs.google.com/document/d/1taKtHnxvOXIXR3arrPYYHmLlRrHQMpFo/edit?usp=sharing&amp;ouid=107740585974173227636&amp;rtpof=true&amp;sd=true" TargetMode="External"/><Relationship Id="rId6" Type="http://schemas.openxmlformats.org/officeDocument/2006/relationships/hyperlink" Target="https://docs.google.com/document/d/17mseleKlui6jHnc3qSBMWj1Vjr6C0TUn/edit?usp=sharing&amp;ouid=107740585974173227636&amp;rtpof=true&amp;sd=true" TargetMode="External"/><Relationship Id="rId7" Type="http://schemas.openxmlformats.org/officeDocument/2006/relationships/hyperlink" Target="https://docs.google.com/document/d/17mseleKlui6jHnc3qSBMWj1Vjr6C0TUn/edit?usp=sharing&amp;ouid=107740585974173227636&amp;rtpof=true&amp;sd=true" TargetMode="External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K85s-HWqOLKj4Y1XOKTLUl-C1uDbMr2M/edit?usp=drive_link&amp;ouid=115880299684122349630&amp;rtpof=true&amp;sd=true" TargetMode="External"/><Relationship Id="rId6" Type="http://schemas.openxmlformats.org/officeDocument/2006/relationships/hyperlink" Target="https://docs.google.com/document/d/1K85s-HWqOLKj4Y1XOKTLUl-C1uDbMr2M/edit?usp=drive_link&amp;ouid=115880299684122349630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www.figma.com/make/YzKnclNJJi4Rm7ar4beuJf/Login-Screen-for-TEXTICODE?node-id=0-1&amp;p=f&amp;t=ee0UowpePSEz9F5m-0&amp;fullscreen=1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cbMk6LRzxlFt9LUVF_R6tSL6AqVK7VYf/edit?usp=drive_link&amp;ouid=115880299684122349630&amp;rtpof=true&amp;sd=true" TargetMode="External"/><Relationship Id="rId6" Type="http://schemas.openxmlformats.org/officeDocument/2006/relationships/image" Target="../media/image21.jpg"/><Relationship Id="rId7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fXqal2bbecflhqs2Cw8RhCoQn9wV25mQ/edit?usp=drive_link&amp;ouid=104180249574821475983&amp;rtpof=true&amp;sd=true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file/d/1IelfpJpfviu7GwXPdeCg2Z1cWDBhbVN6/view?usp=drive_link" TargetMode="External"/><Relationship Id="rId6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file/d/1udz3zinsaT4jlSaR6_HB6khSnJtNDBqU/view?usp=drive_link" TargetMode="External"/><Relationship Id="rId6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InLnCtGK6nZVnI5GFrJvyb1QHKISvUN0/edit?usp=drive_link&amp;ouid=104180249574821475983&amp;rtpof=true&amp;sd=tru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file/d/1BAFII2Cj5H2IZWuQw4EVHw515G1A7hvr/view?usp=drive_link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3.jpg"/><Relationship Id="rId6" Type="http://schemas.openxmlformats.org/officeDocument/2006/relationships/hyperlink" Target="https://github.com/andres859/TEXTICO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95422" y="1947262"/>
            <a:ext cx="645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TEXTICODE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930" y="4719906"/>
            <a:ext cx="1482486" cy="148248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152450" y="4118575"/>
            <a:ext cx="4317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Andres Felipe Lancheros Rincon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Camilo Andres Tibambre Montaña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Andres Castro Quiroga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Stevan Montenegro Wagner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775387" y="140386"/>
            <a:ext cx="4239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00"/>
              <a:buFont typeface="Work Sans"/>
              <a:buNone/>
            </a:pPr>
            <a:r>
              <a:rPr b="1" i="0" lang="es-CO" sz="40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975716" y="1504938"/>
            <a:ext cx="45522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Contextualización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 Del Problema.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.1 Objetivo General.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7.2 Objetivos Específicos.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Recolección.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8.1 Encuesta.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8.2 Entrevista.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2480" y="5666118"/>
            <a:ext cx="1269520" cy="12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6592756" y="1418988"/>
            <a:ext cx="6094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Requisitos Funcionales.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Requisitos No Funcionales.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Mockups.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Casos De Uso.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12.1 Diagrama De Caso De Uso.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12.2 Casos De Uso Extendido.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Base De Datos.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13.1 Modelo Entidad Relación.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13.2 Modelo Relacional.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Ficha 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Diagrama De Despliegue.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Repositorio GitHub.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Agradecimientos.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Contextualización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grupo de personas sentadas en una tienda&#10;&#10;Descripción generada automáticamente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690" y="1861408"/>
            <a:ext cx="4203541" cy="3135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ior, persona, tabla, equipaje&#10;&#10;Descripción generada automáticamente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1826" y="1861407"/>
            <a:ext cx="4203540" cy="313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>
            <a:off x="1483743" y="3013501"/>
            <a:ext cx="925614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enfrenta dificultades en la organización de la producción y el control del inventario, el manejo manual genera retrasos, errores en los registros y desorden en la distribución de tareas, afectando la eficiencia y el cumplimiento de tiempos.</a:t>
            </a:r>
            <a:endParaRPr b="0" i="0" sz="24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regunta</a:t>
            </a:r>
            <a:r>
              <a:rPr b="1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 problema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5"/>
          <p:cNvSpPr txBox="1"/>
          <p:nvPr/>
        </p:nvSpPr>
        <p:spPr>
          <a:xfrm>
            <a:off x="1526875" y="2474893"/>
            <a:ext cx="94372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aplicativo web que optimice la gestión de inventario y producción en la empresa de confecciones?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peles sueltos: Preguntas de investigación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807" y="3988874"/>
            <a:ext cx="3682385" cy="219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424749" y="560725"/>
            <a:ext cx="1060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Justificación del proyecto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5" name="Google Shape;135;p8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8"/>
          <p:cNvSpPr txBox="1"/>
          <p:nvPr/>
        </p:nvSpPr>
        <p:spPr>
          <a:xfrm>
            <a:off x="1233576" y="2179080"/>
            <a:ext cx="972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aplicativo </a:t>
            </a: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digitalizará</a:t>
            </a: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procesos de inventario y producción, reduciendo errores, ahorrando tiempo y mejorando el control de los recursos. 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0309" y="5800955"/>
            <a:ext cx="1133553" cy="113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stificación – Investigación de Operaciones, Administración, Evaluación de Proyectos y Metodología de la Investigación" id="138" name="Google Shape;1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820" y="3912080"/>
            <a:ext cx="1876359" cy="238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organizacional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882562" y="1676575"/>
            <a:ext cx="382746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 procesos manuales.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tiempos y reducción de errores.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gestión de recursos y producción.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882562" y="3651851"/>
            <a:ext cx="60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Límites</a:t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882562" y="4425677"/>
            <a:ext cx="60945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ventas ni facturación.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nómina ni contabilidad.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integra plataformas externas en esta versión.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ágenes de Alcances - Descarga gratuita en Freepik" id="148" name="Google Shape;1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0973" y="1934444"/>
            <a:ext cx="3827461" cy="279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1c32e2ed6_5_0"/>
          <p:cNvSpPr txBox="1"/>
          <p:nvPr/>
        </p:nvSpPr>
        <p:spPr>
          <a:xfrm>
            <a:off x="882562" y="58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BPMN</a:t>
            </a:r>
            <a:endParaRPr/>
          </a:p>
        </p:txBody>
      </p:sp>
      <p:pic>
        <p:nvPicPr>
          <p:cNvPr id="154" name="Google Shape;154;g381c32e2ed6_5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1c32e2ed6_5_0"/>
          <p:cNvSpPr txBox="1"/>
          <p:nvPr/>
        </p:nvSpPr>
        <p:spPr>
          <a:xfrm>
            <a:off x="4596000" y="6134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/>
          </a:p>
        </p:txBody>
      </p:sp>
      <p:pic>
        <p:nvPicPr>
          <p:cNvPr id="156" name="Google Shape;156;g381c32e2ed6_5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6325" y="1356661"/>
            <a:ext cx="6948396" cy="4566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6"/>
          <p:cNvSpPr txBox="1"/>
          <p:nvPr/>
        </p:nvSpPr>
        <p:spPr>
          <a:xfrm>
            <a:off x="1690777" y="2474893"/>
            <a:ext cx="884207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aplicativo web que apoye la gestión de inventario y producción en la empresa.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689939"/>
            <a:ext cx="1168061" cy="1168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cepto De Objetivos Con Bombilla Y Pasos Dibujados a Mano. Símbolo De  Inspiración De La Motivación De La Idea De Liderazgo. Imagen de archivo -  Imagen de metas, individualidad: 250922783" id="165" name="Google Shape;1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6147" y="3801553"/>
            <a:ext cx="3571336" cy="2383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882562" y="586886"/>
            <a:ext cx="4238996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813103" y="2009093"/>
            <a:ext cx="411258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inicio de sesión con roles diferenciados (administrador y operarios) para garantizar seguridad y control en el acceso a la información.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gestión del inventario de materiales y prendas, con funcionalidades de registro, edición, eliminación y alertas de stock.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Diseñar un módulo de asignación de tareas para operarios con registro de avances y finalización de procesos de producción.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096000" y="1997839"/>
            <a:ext cx="467336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y registrar las fechas de inicio, avance y entrega de la producción, asegurando un flujo organizado.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reportes automáticos que         permitan visualizar el estado del inventario, producción y rendimiento de los operarios.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control para clientes, con información de productos, tiempos de entrega, comprobantes de entrega y calidad de materiales.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6536" y="5648863"/>
            <a:ext cx="1209137" cy="120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Técnicas de Recolección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 txBox="1"/>
          <p:nvPr/>
        </p:nvSpPr>
        <p:spPr>
          <a:xfrm>
            <a:off x="1393124" y="4502048"/>
            <a:ext cx="943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ork Sans Light"/>
              <a:buNone/>
            </a:pP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ENCUESTA</a:t>
            </a:r>
            <a:r>
              <a:rPr b="0" i="0" lang="es-CO" sz="2300" u="none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lang="es-CO" sz="2300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                                     </a:t>
            </a:r>
            <a:r>
              <a:rPr lang="es-CO" sz="2300" u="sng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ENTREVISTA</a:t>
            </a:r>
            <a:endParaRPr sz="2300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300" u="sng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TÉCNICAS</a:t>
            </a:r>
            <a:r>
              <a:rPr lang="es-CO" sz="2300" u="sng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APLICADAS Y CONCLUSIONES</a:t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1742536" y="2829561"/>
            <a:ext cx="8738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encuesta y la entrevista</a:t>
            </a: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realizan para conocer las necesidades y opiniones de las personas que participan en los procesos de la empresas de confección. Con esto se busca entender mejor las dificultades y lo que esperan de una herramienta de gestión. </a:t>
            </a:r>
            <a:endParaRPr b="0" i="0"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882562" y="2021504"/>
            <a:ext cx="9954883" cy="3369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RF-001 – Autenticación y autorización: El sistema debe permitir el ingreso de usuarios mediante credenciales seguras y asignar permisos según roles.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RF-002 – Gestión de usuarios: Crear, editar, desactivar usuarios y asignar roles.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RF-003 – Gestión de clientes: Se podrá visualizar los clientes que maneja la empresa, y se podrán recibir y enviar comprobantes de entrega respecto a sus pedidos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RF-004 – Consultar entregas de cortes: Visualizar los tiempos de entrega de los cortes asignados e imprimir comprobantes.  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/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888520" y="1784806"/>
            <a:ext cx="9954883" cy="443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RF-005 – Gestionar inventarios: Registrar entradas y salidas, controlar lotes y definir stocks mínimos.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RF-006 – Reportes de producción: Revisar avances de las prendas, pedidos entregados mensualmente y pedidos pendientes 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RF-007 – Gestión de producción: Registrar avances de las prendas, registrar rendimiento de operarios. Se podrá visualizar los tiempos de entrega de los pedidos respecto al cliente que le corresponda. 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RF-008 – Actualización de datos: Modificar la información única/personal del operario.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RF-009 – Rendimiento: Se podrá evidenciar las tareas ya completadas y su eficiencia 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RF-010 – Tareas: Visualizar las tareas designadas y reportar los avances correspondientes. 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/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882562" y="1784806"/>
            <a:ext cx="8988724" cy="373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RF-011 – Cuenta personal: Modificar la información única/personal del cliente.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RF-012 – Gestión de pedidos: Visualizar los pedidos recibidos y el estado del envío de la producción pendiente.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RF-013 – Consultar pedidos y entregas: Verificar la falta de material en producción, consultar tiempos de entrega y cortes activos o en proceso.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RF-014 – Soportes: Se podrán descargar comprobantes de la reposición de materiales faltantes.  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/>
        </p:nvSpPr>
        <p:spPr>
          <a:xfrm>
            <a:off x="882562" y="586886"/>
            <a:ext cx="552686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No Funcionales</a:t>
            </a:r>
            <a:endParaRPr/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/>
        </p:nvSpPr>
        <p:spPr>
          <a:xfrm>
            <a:off x="882562" y="2329132"/>
            <a:ext cx="4250154" cy="2940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RNF-001 (Rendimiento): &lt;2 segundos de respuesta en consultas comunes.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RNF-002 (Disponibilidad): 99.5% mensual.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RNF-003 (Seguridad): Contraseñas cifradas, HTTPS, control de roles.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RNF-004 (Escalabilidad): Soporte para crecimiento de usuarios/datos.</a:t>
            </a:r>
            <a:endParaRPr/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6409426" y="2329132"/>
            <a:ext cx="4034494" cy="26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RNF-005 (Usabilidad): Interfaz intuitiva, accesible en PC y tablets.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RNF-006 (Mantenibilidad): Código modular, documentación técnica.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RNF-007 (Backup): Copias automáticas diarias.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RNF-008 (Localización): Soporte para formatos de fecha y moneda local.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4596000" y="5621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</a:t>
            </a: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AQUÍ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</a:t>
            </a:r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562" y="1868988"/>
            <a:ext cx="4669136" cy="272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2931" y="1845191"/>
            <a:ext cx="4672616" cy="272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8d10d754_0_0"/>
          <p:cNvSpPr txBox="1"/>
          <p:nvPr/>
        </p:nvSpPr>
        <p:spPr>
          <a:xfrm>
            <a:off x="1161690" y="56071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27" name="Google Shape;227;g3a28d10d754_0_0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8" name="Google Shape;228;g3a28d10d75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28d10d754_0_0"/>
          <p:cNvSpPr txBox="1"/>
          <p:nvPr/>
        </p:nvSpPr>
        <p:spPr>
          <a:xfrm>
            <a:off x="1742536" y="2829561"/>
            <a:ext cx="8738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de uso son una herramienta del análisis de sistemas que permite describir cómo los usuarios interactúan con el sistema para cumplir diferentes objetivos. Se dividen en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casos de uso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representa visualmente las interacciones, y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extendidos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detallan paso a paso el funcionamiento de cada proceso.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28d10d754_0_9"/>
          <p:cNvSpPr txBox="1"/>
          <p:nvPr/>
        </p:nvSpPr>
        <p:spPr>
          <a:xfrm>
            <a:off x="882550" y="58687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Caso De Uso</a:t>
            </a:r>
            <a:endParaRPr/>
          </a:p>
        </p:txBody>
      </p:sp>
      <p:pic>
        <p:nvPicPr>
          <p:cNvPr id="235" name="Google Shape;235;g3a28d10d754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a28d10d754_0_9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a28d10d754_0_9" title="WhatsApp Image 2025-11-11 at 9.06.00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525" y="1384675"/>
            <a:ext cx="3648852" cy="488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28d10d754_0_9" title="WhatsApp Image 2025-11-11 at 9.06.10 P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0200" y="1384675"/>
            <a:ext cx="3795745" cy="488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28d10d754_0_19"/>
          <p:cNvSpPr txBox="1"/>
          <p:nvPr/>
        </p:nvSpPr>
        <p:spPr>
          <a:xfrm>
            <a:off x="882550" y="29687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Casos De Uso Extendido</a:t>
            </a:r>
            <a:endParaRPr/>
          </a:p>
        </p:txBody>
      </p:sp>
      <p:pic>
        <p:nvPicPr>
          <p:cNvPr id="244" name="Google Shape;244;g3a28d10d754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a28d10d754_0_19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g3a28d10d754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8700" y="1040900"/>
            <a:ext cx="4169098" cy="488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a28d10d754_0_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77050" y="1214450"/>
            <a:ext cx="3997350" cy="45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8d10d754_0_29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53" name="Google Shape;253;g3a28d10d754_0_29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g3a28d10d754_0_29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base de datos es el componente encargado de guardar y organizar la información del sistema. El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Entidad-Relación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utiliza para representar de forma gráfica los elementos principales y cómo se conectan entre sí, mientras que el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traduce ese diseño a tablas que pueden implementarse en un sistema de gestión de bases de datos.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g3a28d10d754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8d10d754_0_38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Entidad-Relación </a:t>
            </a:r>
            <a:endParaRPr/>
          </a:p>
        </p:txBody>
      </p:sp>
      <p:pic>
        <p:nvPicPr>
          <p:cNvPr id="261" name="Google Shape;261;g3a28d10d754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a28d10d754_0_38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g3a28d10d754_0_38" title="WhatsApp Image 2025-11-05 at 10.55.44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8400" y="1435225"/>
            <a:ext cx="6619303" cy="441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28d10d754_0_47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Relacional </a:t>
            </a:r>
            <a:endParaRPr/>
          </a:p>
        </p:txBody>
      </p:sp>
      <p:pic>
        <p:nvPicPr>
          <p:cNvPr id="269" name="Google Shape;269;g3a28d10d754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28d10d754_0_47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g3a28d10d754_0_47" title="WhatsApp Image 2025-11-11 at 8.55.06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75" y="1435225"/>
            <a:ext cx="6186470" cy="441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28d10d754_0_55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Ficha </a:t>
            </a: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Técnica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77" name="Google Shape;277;g3a28d10d754_0_55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g3a28d10d754_0_55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ficha técnica reúne información clave del proyecto, incluyendo el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formato de costos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el </a:t>
            </a:r>
            <a:r>
              <a:rPr b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proveedores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Este documento permite evaluar los recursos necesarios, comparar opciones disponibles y seleccionar las alternativas más adecuadas para garantizar la viabilidad y eficiencia del desarrollo.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3a28d10d754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a28d10d754_0_55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28d10d754_0_71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 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86" name="Google Shape;286;g3a28d10d754_0_71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g3a28d10d754_0_71"/>
          <p:cNvSpPr txBox="1"/>
          <p:nvPr/>
        </p:nvSpPr>
        <p:spPr>
          <a:xfrm>
            <a:off x="1526775" y="2189143"/>
            <a:ext cx="9437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despliegue es un elemento del modelado UML que representa la estructura física del sistema, mostrando cómo los componentes de software se instalan y comunican dentro de la infraestructura tecnológica. Este diagrama facilita la comprensión de la arquitectura del proyecto, permitiendo planificar adecuadamente la distribución, ejecución y mantenimiento de los recursos del sistema.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g3a28d10d754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a28d10d754_0_71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Repositorio GitHub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95" name="Google Shape;295;p16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6" name="Google Shape;2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Descripción generada automáticamente" id="297" name="Google Shape;2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2778" y="2184197"/>
            <a:ext cx="7946444" cy="3724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/>
        </p:nvSpPr>
        <p:spPr>
          <a:xfrm>
            <a:off x="4935675" y="5949898"/>
            <a:ext cx="2352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LINK AQUÍ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