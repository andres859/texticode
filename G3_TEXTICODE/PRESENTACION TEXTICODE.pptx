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</p:sldIdLst>
  <p:sldSz cy="6858000" cx="12192000"/>
  <p:notesSz cx="6858000" cy="9144000"/>
  <p:embeddedFontLst>
    <p:embeddedFont>
      <p:font typeface="Work Sans"/>
      <p:regular r:id="rId36"/>
      <p:bold r:id="rId37"/>
      <p:italic r:id="rId38"/>
      <p:boldItalic r:id="rId39"/>
    </p:embeddedFont>
    <p:embeddedFont>
      <p:font typeface="Work Sans Light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</p15:sldGuideLst>
    </p:ext>
    <p:ext uri="GoogleSlidesCustomDataVersion2">
      <go:slidesCustomData xmlns:go="http://customooxmlschemas.google.com/" r:id="rId44" roundtripDataSignature="AMtx7mjSJPH6R1V/1yi5nH1y+J6uzrZS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WorkSansLight-regular.fntdata"/><Relationship Id="rId20" Type="http://schemas.openxmlformats.org/officeDocument/2006/relationships/slide" Target="slides/slide15.xml"/><Relationship Id="rId42" Type="http://schemas.openxmlformats.org/officeDocument/2006/relationships/font" Target="fonts/WorkSansLight-italic.fntdata"/><Relationship Id="rId41" Type="http://schemas.openxmlformats.org/officeDocument/2006/relationships/font" Target="fonts/WorkSansLight-bold.fntdata"/><Relationship Id="rId22" Type="http://schemas.openxmlformats.org/officeDocument/2006/relationships/slide" Target="slides/slide17.xml"/><Relationship Id="rId44" Type="http://customschemas.google.com/relationships/presentationmetadata" Target="metadata"/><Relationship Id="rId21" Type="http://schemas.openxmlformats.org/officeDocument/2006/relationships/slide" Target="slides/slide16.xml"/><Relationship Id="rId43" Type="http://schemas.openxmlformats.org/officeDocument/2006/relationships/font" Target="fonts/WorkSansLight-boldItalic.fnt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font" Target="fonts/WorkSans-bold.fntdata"/><Relationship Id="rId14" Type="http://schemas.openxmlformats.org/officeDocument/2006/relationships/slide" Target="slides/slide9.xml"/><Relationship Id="rId36" Type="http://schemas.openxmlformats.org/officeDocument/2006/relationships/font" Target="fonts/WorkSans-regular.fntdata"/><Relationship Id="rId17" Type="http://schemas.openxmlformats.org/officeDocument/2006/relationships/slide" Target="slides/slide12.xml"/><Relationship Id="rId39" Type="http://schemas.openxmlformats.org/officeDocument/2006/relationships/font" Target="fonts/WorkSans-boldItalic.fntdata"/><Relationship Id="rId16" Type="http://schemas.openxmlformats.org/officeDocument/2006/relationships/slide" Target="slides/slide11.xml"/><Relationship Id="rId38" Type="http://schemas.openxmlformats.org/officeDocument/2006/relationships/font" Target="fonts/WorkSans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O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" name="Google Shape;9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3" name="Google Shape;12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2" name="Google Shape;13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81c32e2ed6_5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1" name="Google Shape;151;g381c32e2ed6_5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9" name="Google Shape;15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8" name="Google Shape;16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6" name="Google Shape;17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5" name="Google Shape;18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2" name="Google Shape;19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9" name="Google Shape;19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15" name="Google Shape;21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aaaca26eea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4" name="Google Shape;224;g3aaaca26eea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a28d10d754_0_5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1" name="Google Shape;231;g3a28d10d754_0_5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a28d10d754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1" name="Google Shape;241;g3a28d10d754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a28d10d754_0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9" name="Google Shape;249;g3a28d10d754_0_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28d10d754_0_1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8" name="Google Shape;258;g3a28d10d754_0_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a28d10d754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7" name="Google Shape;267;g3a28d10d754_0_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a28d10d754_0_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5" name="Google Shape;275;g3a28d10d754_0_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a28d10d754_0_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3" name="Google Shape;283;g3a28d10d754_0_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aa645e6632_0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1" name="Google Shape;291;g3aa645e6632_0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a28d10d754_0_7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1" name="Google Shape;301;g3a28d10d754_0_7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aa13390986_2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9" name="Google Shape;309;g3aa13390986_2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b081f5ea10_0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7" name="Google Shape;317;g3b081f5ea10_0_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b081f5ea10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5" name="Google Shape;325;g3b081f5ea10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4" name="Google Shape;334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2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8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3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3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image" Target="../media/image10.jpg"/><Relationship Id="rId6" Type="http://schemas.openxmlformats.org/officeDocument/2006/relationships/image" Target="../media/image9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image" Target="../media/image1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hyperlink" Target="https://docs.google.com/document/d/1TosudO8JLikDicc8Ex-7Va4dWE-66tit/edit?usp=drive_link&amp;ouid=113659387585359605470&amp;rtpof=true&amp;sd=true" TargetMode="External"/><Relationship Id="rId6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image" Target="../media/image19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Relationship Id="rId4" Type="http://schemas.openxmlformats.org/officeDocument/2006/relationships/hyperlink" Target="https://docs.google.com/forms/d/e/1FAIpQLSf-RKvUDCraIcyOMUgIjDYKn3bmsXYWimLTlS92LObaUB3zjw/viewform?usp=header" TargetMode="External"/><Relationship Id="rId5" Type="http://schemas.openxmlformats.org/officeDocument/2006/relationships/hyperlink" Target="https://docs.google.com/document/d/1taKtHnxvOXIXR3arrPYYHmLlRrHQMpFo/edit?usp=sharing&amp;ouid=107740585974173227636&amp;rtpof=true&amp;sd=true" TargetMode="External"/><Relationship Id="rId6" Type="http://schemas.openxmlformats.org/officeDocument/2006/relationships/hyperlink" Target="https://docs.google.com/document/d/17mseleKlui6jHnc3qSBMWj1Vjr6C0TUn/edit?usp=sharing&amp;ouid=107740585974173227636&amp;rtpof=true&amp;sd=true" TargetMode="External"/><Relationship Id="rId7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hyperlink" Target="https://docs.google.com/document/d/1K85s-HWqOLKj4Y1XOKTLUl-C1uDbMr2M/edit?usp=drive_link&amp;ouid=115880299684122349630&amp;rtpof=true&amp;sd=tru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hyperlink" Target="https://www.figma.com/make/YzKnclNJJi4Rm7ar4beuJf/Login-Screen-for-TEXTICODE?node-id=0-1&amp;p=f&amp;t=ee0UowpePSEz9F5m-0&amp;fullscreen=1" TargetMode="External"/><Relationship Id="rId6" Type="http://schemas.openxmlformats.org/officeDocument/2006/relationships/image" Target="../media/image11.png"/><Relationship Id="rId7" Type="http://schemas.openxmlformats.org/officeDocument/2006/relationships/image" Target="../media/image1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hyperlink" Target="https://docs.google.com/spreadsheets/d/1i_cR8Aapn68T9n2BOBk4zsCeHNAQN3nd/edit?usp=drive_link&amp;ouid=104180249574821475983&amp;rtpof=true&amp;sd=true" TargetMode="External"/><Relationship Id="rId6" Type="http://schemas.openxmlformats.org/officeDocument/2006/relationships/hyperlink" Target="https://docs.google.com/document/d/1P5YLL7kqfppKp9YIdOK810Jhg5rP030p/edit?usp=drive_link&amp;ouid=113659387585359605470&amp;rtpof=true&amp;sd=tru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hyperlink" Target="https://docs.google.com/document/d/1cbMk6LRzxlFt9LUVF_R6tSL6AqVK7VYf/edit?usp=drive_link&amp;ouid=115880299684122349630&amp;rtpof=true&amp;sd=true" TargetMode="External"/><Relationship Id="rId6" Type="http://schemas.openxmlformats.org/officeDocument/2006/relationships/image" Target="../media/image20.jpg"/><Relationship Id="rId7" Type="http://schemas.openxmlformats.org/officeDocument/2006/relationships/image" Target="../media/image12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hyperlink" Target="https://docs.google.com/document/d/1fXqal2bbecflhqs2Cw8RhCoQn9wV25mQ/edit?usp=drive_link&amp;ouid=104180249574821475983&amp;rtpof=true&amp;sd=true" TargetMode="External"/><Relationship Id="rId6" Type="http://schemas.openxmlformats.org/officeDocument/2006/relationships/image" Target="../media/image23.jpg"/><Relationship Id="rId7" Type="http://schemas.openxmlformats.org/officeDocument/2006/relationships/image" Target="../media/image24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hyperlink" Target="https://drive.google.com/file/d/1ZUJXWQzEbcxG2jqQbqsTMzJaPPIA0jiL/view?usp=drive_link" TargetMode="External"/><Relationship Id="rId6" Type="http://schemas.openxmlformats.org/officeDocument/2006/relationships/hyperlink" Target="https://drive.google.com/file/d/16wqn0CwoRr93uW5VV6nvhy4zGrQJWq0M/view?usp=drive_link" TargetMode="External"/><Relationship Id="rId7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hyperlink" Target="https://drive.google.com/file/d/1f1zWRObr-HzpldXH0__V4Y6ukdtPoOu2/view?usp=drive_link" TargetMode="External"/><Relationship Id="rId6" Type="http://schemas.openxmlformats.org/officeDocument/2006/relationships/image" Target="../media/image1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hyperlink" Target="https://docs.google.com/spreadsheets/d/1O8oj4fZy_9weDZFGdm83QNtsiRhvvDDA/edit?usp=drive_link&amp;ouid=115880299684122349630&amp;rtpof=true&amp;sd=true" TargetMode="External"/><Relationship Id="rId6" Type="http://schemas.openxmlformats.org/officeDocument/2006/relationships/hyperlink" Target="https://docs.google.com/spreadsheets/d/1O8oj4fZy_9weDZFGdm83QNtsiRhvvDDA/edit?usp=drive_link&amp;ouid=115880299684122349630&amp;rtpof=true&amp;sd=true" TargetMode="External"/><Relationship Id="rId7" Type="http://schemas.openxmlformats.org/officeDocument/2006/relationships/hyperlink" Target="https://drive.google.com/file/d/1-2e4xObMJuFpv20aynmRdWlfV8eh_5Z9/view?usp=drive_link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hyperlink" Target="https://drive.google.com/file/d/1_gCtaMEBjyv7BjxjLhL5vmiaKMgmexoE/view?usp=drive_link" TargetMode="External"/><Relationship Id="rId6" Type="http://schemas.openxmlformats.org/officeDocument/2006/relationships/image" Target="../media/image2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hyperlink" Target="https://docs.google.com/document/d/1uoMHaHvXLll8h0pbEA6trrAE90GebDyZ/edit?usp=drive_link&amp;ouid=115880299684122349630&amp;rtpof=true&amp;sd=true" TargetMode="External"/><Relationship Id="rId6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7.jpg"/><Relationship Id="rId4" Type="http://schemas.openxmlformats.org/officeDocument/2006/relationships/image" Target="../media/image4.png"/><Relationship Id="rId5" Type="http://schemas.openxmlformats.org/officeDocument/2006/relationships/hyperlink" Target="https://github.com/andres859/TEXTICODE" TargetMode="External"/><Relationship Id="rId6" Type="http://schemas.openxmlformats.org/officeDocument/2006/relationships/image" Target="../media/image2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995422" y="1947262"/>
            <a:ext cx="64536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400"/>
              <a:buFont typeface="Work Sans"/>
              <a:buNone/>
            </a:pPr>
            <a:r>
              <a:rPr b="1" i="0" lang="es-CO" sz="5400" u="none" cap="none" strike="noStrike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PROYECTO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5400"/>
              <a:buFont typeface="Work Sans"/>
              <a:buNone/>
            </a:pPr>
            <a:r>
              <a:rPr b="1" i="0" lang="es-CO" sz="5400" u="none" cap="none" strike="noStrike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TEXTICODE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820905" y="4839481"/>
            <a:ext cx="1482485" cy="148248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"/>
          <p:cNvSpPr txBox="1"/>
          <p:nvPr/>
        </p:nvSpPr>
        <p:spPr>
          <a:xfrm>
            <a:off x="1152450" y="4118575"/>
            <a:ext cx="4317000" cy="7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Andres Felipe Lancheros Rincon</a:t>
            </a:r>
            <a:endParaRPr b="1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Camilo Andres Tibambre Montaña</a:t>
            </a:r>
            <a:endParaRPr b="1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Kevin Andres Castro Quiroga</a:t>
            </a:r>
            <a:endParaRPr b="1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s-CO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Kevin Stevan Montenegro Wagner</a:t>
            </a:r>
            <a:endParaRPr b="1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 txBox="1"/>
          <p:nvPr/>
        </p:nvSpPr>
        <p:spPr>
          <a:xfrm>
            <a:off x="775387" y="140386"/>
            <a:ext cx="42390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4000"/>
              <a:buFont typeface="Work Sans"/>
              <a:buNone/>
            </a:pPr>
            <a:r>
              <a:rPr b="1" i="0" lang="es-CO" sz="40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Tabla de contenido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975716" y="1504938"/>
            <a:ext cx="4552200" cy="532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Contextualización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Planteamiento Del Problema.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 Del Problema.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Justificación.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BPMN.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7.1 Objetivo General.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7.2 Objetivos Específicos.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8. Técnicas De Recolección.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8.1 Encuesta.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	8.2 Entrevista.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22480" y="5666118"/>
            <a:ext cx="1269520" cy="126952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"/>
          <p:cNvSpPr txBox="1"/>
          <p:nvPr/>
        </p:nvSpPr>
        <p:spPr>
          <a:xfrm>
            <a:off x="6592756" y="1418988"/>
            <a:ext cx="6094500" cy="52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9. Requisitos Funcionales.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10. Requisitos No Funcionales.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11. Mockups.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12. Casos De Uso.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12.1 Diagrama De Caso De Uso.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12.2 Casos De Uso Extendido.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13. Base De Datos.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13.1 Modelo Entidad Relación.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13.2 Modelo Relacional.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14. Ficha Técnica.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15. Diagrama De Despliegue. 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16. Repositorio GitHub.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17. Agradecimientos.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"/>
          <p:cNvSpPr txBox="1"/>
          <p:nvPr/>
        </p:nvSpPr>
        <p:spPr>
          <a:xfrm>
            <a:off x="1161690" y="560717"/>
            <a:ext cx="9868619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Contextualización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09" name="Google Shape;109;p3"/>
          <p:cNvCxnSpPr/>
          <p:nvPr/>
        </p:nvCxnSpPr>
        <p:spPr>
          <a:xfrm>
            <a:off x="1613140" y="1576380"/>
            <a:ext cx="8997351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10" name="Google Shape;11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77909" y="5674744"/>
            <a:ext cx="1183256" cy="118325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Un grupo de personas sentadas en una tienda&#10;&#10;Descripción generada automáticamente" id="111" name="Google Shape;111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690" y="1861408"/>
            <a:ext cx="4203541" cy="313518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n que contiene interior, persona, tabla, equipaje&#10;&#10;Descripción generada automáticamente" id="112" name="Google Shape;112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61826" y="1861407"/>
            <a:ext cx="4203540" cy="31351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"/>
          <p:cNvSpPr txBox="1"/>
          <p:nvPr/>
        </p:nvSpPr>
        <p:spPr>
          <a:xfrm>
            <a:off x="1161690" y="560717"/>
            <a:ext cx="9868619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Planteamiento del problema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8" name="Google Shape;118;p4"/>
          <p:cNvCxnSpPr/>
          <p:nvPr/>
        </p:nvCxnSpPr>
        <p:spPr>
          <a:xfrm>
            <a:off x="1613140" y="1576380"/>
            <a:ext cx="8997300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9" name="Google Shape;119;p4"/>
          <p:cNvSpPr txBox="1"/>
          <p:nvPr/>
        </p:nvSpPr>
        <p:spPr>
          <a:xfrm>
            <a:off x="1483743" y="3013501"/>
            <a:ext cx="9256143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empresa enfrenta dificultades en la organización de la producción y el control del inventario, el manejo manual genera retrasos, errores en los registros y desorden en la distribución de tareas, afectando la eficiencia y el cumplimiento de tiempos.</a:t>
            </a:r>
            <a:endParaRPr b="0" i="0" sz="2400" u="none" cap="none" strike="noStrike">
              <a:solidFill>
                <a:srgbClr val="000000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pic>
        <p:nvPicPr>
          <p:cNvPr id="120" name="Google Shape;120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77909" y="5674744"/>
            <a:ext cx="1183256" cy="11832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"/>
          <p:cNvSpPr txBox="1"/>
          <p:nvPr/>
        </p:nvSpPr>
        <p:spPr>
          <a:xfrm>
            <a:off x="1161690" y="560717"/>
            <a:ext cx="9868619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Pregunta problema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26" name="Google Shape;126;p5"/>
          <p:cNvCxnSpPr/>
          <p:nvPr/>
        </p:nvCxnSpPr>
        <p:spPr>
          <a:xfrm>
            <a:off x="1613140" y="1576380"/>
            <a:ext cx="8997351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7" name="Google Shape;127;p5"/>
          <p:cNvSpPr txBox="1"/>
          <p:nvPr/>
        </p:nvSpPr>
        <p:spPr>
          <a:xfrm>
            <a:off x="1526875" y="2474893"/>
            <a:ext cx="9437299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0" i="0" lang="es-CO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¿Cómo desarrollar un aplicativo web que optimice la gestión de inventario y producción en la empresa de confecciones?</a:t>
            </a:r>
            <a:endParaRPr b="0" i="0" sz="2800" u="none" cap="none" strike="noStrike">
              <a:solidFill>
                <a:srgbClr val="000000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pic>
        <p:nvPicPr>
          <p:cNvPr id="128" name="Google Shape;128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64174" y="5698571"/>
            <a:ext cx="1159429" cy="115942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apeles sueltos: Preguntas de investigación" id="129" name="Google Shape;129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254807" y="3988874"/>
            <a:ext cx="3682385" cy="2191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 txBox="1"/>
          <p:nvPr/>
        </p:nvSpPr>
        <p:spPr>
          <a:xfrm>
            <a:off x="424749" y="560725"/>
            <a:ext cx="106056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Justificación del proyecto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35" name="Google Shape;135;p8"/>
          <p:cNvCxnSpPr/>
          <p:nvPr/>
        </p:nvCxnSpPr>
        <p:spPr>
          <a:xfrm>
            <a:off x="1613140" y="1576380"/>
            <a:ext cx="8997351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6" name="Google Shape;136;p8"/>
          <p:cNvSpPr txBox="1"/>
          <p:nvPr/>
        </p:nvSpPr>
        <p:spPr>
          <a:xfrm>
            <a:off x="1233576" y="2179080"/>
            <a:ext cx="97248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0" i="0" lang="es-CO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aplicativo digitalizará los procesos de inventario y producción, reduciendo errores, ahorrando tiempo y mejorando el control de los recursos. </a:t>
            </a:r>
            <a:endParaRPr b="0" i="0" sz="2800" u="none" cap="none" strike="noStrike">
              <a:solidFill>
                <a:srgbClr val="000000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pic>
        <p:nvPicPr>
          <p:cNvPr id="137" name="Google Shape;137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30309" y="5800955"/>
            <a:ext cx="1133553" cy="11335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Justificación – Investigación de Operaciones, Administración, Evaluación de Proyectos y Metodología de la Investigación" id="138" name="Google Shape;138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157820" y="3912080"/>
            <a:ext cx="1876359" cy="23852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/>
        </p:nvSpPr>
        <p:spPr>
          <a:xfrm>
            <a:off x="882562" y="586886"/>
            <a:ext cx="4983400" cy="676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Alcance organizacional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9"/>
          <p:cNvSpPr txBox="1"/>
          <p:nvPr/>
        </p:nvSpPr>
        <p:spPr>
          <a:xfrm>
            <a:off x="882562" y="1676575"/>
            <a:ext cx="3827461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Digitalización de procesos manuales.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Optimización de tiempos y reducción de errores.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Mayor gestión de recursos y producción.</a:t>
            </a:r>
            <a:endParaRPr b="0" i="0" sz="1800" u="none" cap="none" strike="noStrike">
              <a:solidFill>
                <a:schemeClr val="dk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45" name="Google Shape;145;p9"/>
          <p:cNvSpPr txBox="1"/>
          <p:nvPr/>
        </p:nvSpPr>
        <p:spPr>
          <a:xfrm>
            <a:off x="882562" y="3651851"/>
            <a:ext cx="6094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Límites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9"/>
          <p:cNvSpPr txBox="1"/>
          <p:nvPr/>
        </p:nvSpPr>
        <p:spPr>
          <a:xfrm>
            <a:off x="882562" y="4425677"/>
            <a:ext cx="6094562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s-CO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contempla ventas ni facturación.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s-CO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incluye nómina ni contabilidad.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s-CO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integra plataformas externas en esta versión.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8" cy="108992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ágenes de Alcances - Descarga gratuita en Freepik" id="148" name="Google Shape;148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70973" y="1934444"/>
            <a:ext cx="3827461" cy="27981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81c32e2ed6_5_0"/>
          <p:cNvSpPr txBox="1"/>
          <p:nvPr/>
        </p:nvSpPr>
        <p:spPr>
          <a:xfrm>
            <a:off x="882562" y="586886"/>
            <a:ext cx="4983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Diagrama BPMN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g381c32e2ed6_5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9" cy="1089929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g381c32e2ed6_5_0"/>
          <p:cNvSpPr txBox="1"/>
          <p:nvPr/>
        </p:nvSpPr>
        <p:spPr>
          <a:xfrm>
            <a:off x="4596000" y="613427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LINK AQUÍ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6" name="Google Shape;156;g381c32e2ed6_5_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576325" y="1356661"/>
            <a:ext cx="6948396" cy="45660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6"/>
          <p:cNvSpPr txBox="1"/>
          <p:nvPr/>
        </p:nvSpPr>
        <p:spPr>
          <a:xfrm>
            <a:off x="1161690" y="560717"/>
            <a:ext cx="9868619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62" name="Google Shape;162;p6"/>
          <p:cNvCxnSpPr/>
          <p:nvPr/>
        </p:nvCxnSpPr>
        <p:spPr>
          <a:xfrm>
            <a:off x="1613140" y="1576380"/>
            <a:ext cx="8997351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3" name="Google Shape;163;p6"/>
          <p:cNvSpPr txBox="1"/>
          <p:nvPr/>
        </p:nvSpPr>
        <p:spPr>
          <a:xfrm>
            <a:off x="1690777" y="2474893"/>
            <a:ext cx="8842076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0" i="0" lang="es-CO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 aplicativo web que apoye la gestión de inventario y producción en la empresa.</a:t>
            </a:r>
            <a:endParaRPr b="0" i="0" sz="2800" u="none" cap="none" strike="noStrike">
              <a:solidFill>
                <a:srgbClr val="000000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pic>
        <p:nvPicPr>
          <p:cNvPr id="164" name="Google Shape;16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689939"/>
            <a:ext cx="1168061" cy="116806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oncepto De Objetivos Con Bombilla Y Pasos Dibujados a Mano. Símbolo De  Inspiración De La Motivación De La Idea De Liderazgo. Imagen de archivo -  Imagen de metas, individualidad: 250922783" id="165" name="Google Shape;16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26147" y="3801553"/>
            <a:ext cx="3571336" cy="23838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"/>
          <p:cNvSpPr txBox="1"/>
          <p:nvPr/>
        </p:nvSpPr>
        <p:spPr>
          <a:xfrm>
            <a:off x="882562" y="586886"/>
            <a:ext cx="4238996" cy="676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7"/>
          <p:cNvSpPr txBox="1"/>
          <p:nvPr/>
        </p:nvSpPr>
        <p:spPr>
          <a:xfrm>
            <a:off x="813103" y="2009093"/>
            <a:ext cx="4112580" cy="36933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un sistema de inicio de sesión con roles diferenciados (administrador y operarios) para garantizar seguridad y control en el acceso a la información.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Permitir la gestión del inventario de materiales y prendas, con funcionalidades de registro, edición, eliminación y alertas de stock.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Diseñar un módulo de asignación de tareas para operarios con registro de avances y finalización de procesos de producción.</a:t>
            </a:r>
            <a:endParaRPr b="0" i="0" sz="1800" u="none" cap="none" strike="noStrike">
              <a:solidFill>
                <a:schemeClr val="dk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sp>
        <p:nvSpPr>
          <p:cNvPr id="172" name="Google Shape;172;p7"/>
          <p:cNvSpPr txBox="1"/>
          <p:nvPr/>
        </p:nvSpPr>
        <p:spPr>
          <a:xfrm>
            <a:off x="6096000" y="1997839"/>
            <a:ext cx="4673361" cy="3477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s-CO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Controlar y registrar las fechas de inicio, avance y entrega de la producción, asegurando un flujo organizado.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s-CO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reportes automáticos que         permitan visualizar el estado del inventario, producción y rendimiento de los operarios.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b="0" i="0" lang="es-CO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 sistema de control para clientes, con información de productos, tiempos de entrega, comprobantes de entrega y calidad de materiales.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3" name="Google Shape;173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86536" y="5648863"/>
            <a:ext cx="1209137" cy="12091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0"/>
          <p:cNvSpPr txBox="1"/>
          <p:nvPr/>
        </p:nvSpPr>
        <p:spPr>
          <a:xfrm>
            <a:off x="1161690" y="560717"/>
            <a:ext cx="9868619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Técnicas de Recolección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79" name="Google Shape;179;p10"/>
          <p:cNvCxnSpPr/>
          <p:nvPr/>
        </p:nvCxnSpPr>
        <p:spPr>
          <a:xfrm>
            <a:off x="1613140" y="1576380"/>
            <a:ext cx="8997351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80" name="Google Shape;180;p10"/>
          <p:cNvSpPr txBox="1"/>
          <p:nvPr/>
        </p:nvSpPr>
        <p:spPr>
          <a:xfrm>
            <a:off x="1393124" y="4502048"/>
            <a:ext cx="9437400" cy="11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Work Sans Light"/>
              <a:buNone/>
            </a:pPr>
            <a:r>
              <a:rPr b="0" i="0" lang="es-CO" sz="2300" u="sng" cap="none" strike="noStrike">
                <a:solidFill>
                  <a:schemeClr val="accent1"/>
                </a:solidFill>
                <a:latin typeface="Work Sans Light"/>
                <a:ea typeface="Work Sans Light"/>
                <a:cs typeface="Work Sans Light"/>
                <a:sym typeface="Work Sans Ligh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ENCUESTA</a:t>
            </a:r>
            <a:r>
              <a:rPr b="0" i="0" lang="es-CO" sz="2300" u="none" cap="none" strike="noStrike">
                <a:solidFill>
                  <a:schemeClr val="accen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                                       </a:t>
            </a:r>
            <a:r>
              <a:rPr b="0" i="0" lang="es-CO" sz="2300" u="sng" cap="none" strike="noStrike">
                <a:solidFill>
                  <a:schemeClr val="accent1"/>
                </a:solidFill>
                <a:latin typeface="Work Sans Light"/>
                <a:ea typeface="Work Sans Light"/>
                <a:cs typeface="Work Sans Light"/>
                <a:sym typeface="Work Sans Light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ENTREVISTA</a:t>
            </a:r>
            <a:endParaRPr b="0" i="0" sz="2300" u="none" cap="none" strike="noStrike">
              <a:solidFill>
                <a:schemeClr val="accent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chemeClr val="accent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0" i="0" lang="es-CO" sz="2300" u="sng" cap="none" strike="noStrike">
                <a:solidFill>
                  <a:schemeClr val="accent1"/>
                </a:solidFill>
                <a:latin typeface="Work Sans Light"/>
                <a:ea typeface="Work Sans Light"/>
                <a:cs typeface="Work Sans Light"/>
                <a:sym typeface="Work Sans Light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TÉCNICAS APLICADAS Y CONCLUSIONES</a:t>
            </a:r>
            <a:endParaRPr b="0" i="0" sz="2300" u="none" cap="none" strike="noStrike">
              <a:solidFill>
                <a:schemeClr val="accent1"/>
              </a:solidFill>
              <a:latin typeface="Work Sans Light"/>
              <a:ea typeface="Work Sans Light"/>
              <a:cs typeface="Work Sans Light"/>
              <a:sym typeface="Work Sans Light"/>
            </a:endParaRPr>
          </a:p>
        </p:txBody>
      </p:sp>
      <p:pic>
        <p:nvPicPr>
          <p:cNvPr id="181" name="Google Shape;181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964174" y="5698571"/>
            <a:ext cx="1159429" cy="1159429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0"/>
          <p:cNvSpPr txBox="1"/>
          <p:nvPr/>
        </p:nvSpPr>
        <p:spPr>
          <a:xfrm>
            <a:off x="1742536" y="2829561"/>
            <a:ext cx="87387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r>
              <a:rPr b="0" i="0" lang="es-CO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</a:t>
            </a:r>
            <a:r>
              <a:rPr b="1" i="0" lang="es-CO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encuesta y la entrevista</a:t>
            </a:r>
            <a:r>
              <a:rPr b="0" i="0" lang="es-CO" sz="1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se realizan para conocer las necesidades y opiniones de las personas que participan en los procesos de la empresas de confección. Con esto se busca entender mejor las dificultades y lo que esperan de una herramienta de gestión. </a:t>
            </a:r>
            <a:endParaRPr b="0" i="0" sz="1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2"/>
          <p:cNvSpPr txBox="1"/>
          <p:nvPr/>
        </p:nvSpPr>
        <p:spPr>
          <a:xfrm>
            <a:off x="882562" y="586886"/>
            <a:ext cx="4983400" cy="676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Requisitos Funcionales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" name="Google Shape;18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8" cy="1089928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2"/>
          <p:cNvSpPr txBox="1"/>
          <p:nvPr/>
        </p:nvSpPr>
        <p:spPr>
          <a:xfrm>
            <a:off x="882562" y="2021504"/>
            <a:ext cx="9954900" cy="29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b="1" lang="es-CO" sz="1700">
                <a:solidFill>
                  <a:schemeClr val="dk1"/>
                </a:solidFill>
              </a:rPr>
              <a:t>RF-001 – Autenticar y autorizar usuarios: </a:t>
            </a:r>
            <a:r>
              <a:rPr lang="es-CO" sz="1700">
                <a:solidFill>
                  <a:schemeClr val="dk1"/>
                </a:solidFill>
              </a:rPr>
              <a:t>Permitir el ingreso de usuarios mediante credenciales seguras y asignar permisos según roles.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ADMINISTRADOR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Char char="•"/>
            </a:pPr>
            <a:r>
              <a:rPr b="1" lang="es-CO" sz="1700">
                <a:solidFill>
                  <a:schemeClr val="dk1"/>
                </a:solidFill>
              </a:rPr>
              <a:t>RF-002 – Gestionar usuarios y clientes: </a:t>
            </a:r>
            <a:r>
              <a:rPr lang="es-CO" sz="1700">
                <a:solidFill>
                  <a:schemeClr val="dk1"/>
                </a:solidFill>
              </a:rPr>
              <a:t>Crear, editar y desactivar usuarios, asignar roles, visualizar clientes y recibir y enviar comprobantes de entrega de pedidos.</a:t>
            </a:r>
            <a:endParaRPr b="1" sz="2300">
              <a:solidFill>
                <a:schemeClr val="dk1"/>
              </a:solidFill>
            </a:endParaRPr>
          </a:p>
          <a:p>
            <a:pPr indent="-27940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1" lang="es-CO" sz="1700">
                <a:solidFill>
                  <a:schemeClr val="dk1"/>
                </a:solidFill>
              </a:rPr>
              <a:t>RF-003 – Consultar entregas de cortes: </a:t>
            </a:r>
            <a:r>
              <a:rPr lang="es-CO" sz="1700">
                <a:solidFill>
                  <a:schemeClr val="dk1"/>
                </a:solidFill>
              </a:rPr>
              <a:t>Visualizar los tiempos de entrega de los cortes asignados e imprimir comprobantes.</a:t>
            </a:r>
            <a:endParaRPr sz="24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3"/>
          <p:cNvSpPr txBox="1"/>
          <p:nvPr/>
        </p:nvSpPr>
        <p:spPr>
          <a:xfrm>
            <a:off x="888537" y="296886"/>
            <a:ext cx="4983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Requisitos Funcionales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8" cy="1089928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3"/>
          <p:cNvSpPr txBox="1"/>
          <p:nvPr/>
        </p:nvSpPr>
        <p:spPr>
          <a:xfrm>
            <a:off x="888520" y="1400731"/>
            <a:ext cx="9954900" cy="58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ADMINISTRADOR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b="1" lang="es-CO" sz="1600">
                <a:solidFill>
                  <a:schemeClr val="dk1"/>
                </a:solidFill>
              </a:rPr>
              <a:t>RF-004 – Gestionar inventarios: </a:t>
            </a:r>
            <a:r>
              <a:rPr lang="es-CO" sz="1600">
                <a:solidFill>
                  <a:schemeClr val="dk1"/>
                </a:solidFill>
              </a:rPr>
              <a:t>Registrar entradas y salidas, controlar lotes y definir stocks mínimos.</a:t>
            </a:r>
            <a:endParaRPr sz="2300">
              <a:latin typeface="Calibri"/>
              <a:ea typeface="Calibri"/>
              <a:cs typeface="Calibri"/>
              <a:sym typeface="Calibri"/>
            </a:endParaRPr>
          </a:p>
          <a:p>
            <a:pPr indent="-4064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Font typeface="Calibri"/>
              <a:buChar char="•"/>
            </a:pPr>
            <a:r>
              <a:rPr b="1" lang="es-CO" sz="1600">
                <a:solidFill>
                  <a:schemeClr val="dk1"/>
                </a:solidFill>
              </a:rPr>
              <a:t>RF-005 – Gestión y reportes de producción: </a:t>
            </a:r>
            <a:r>
              <a:rPr lang="es-CO" sz="1600">
                <a:solidFill>
                  <a:schemeClr val="dk1"/>
                </a:solidFill>
              </a:rPr>
              <a:t>Permitir registrar avances de las prendas, controlar el rendimiento de los operarios y generar reportes (para descargar y exportar a </a:t>
            </a:r>
            <a:r>
              <a:rPr lang="es-CO" sz="1600">
                <a:solidFill>
                  <a:schemeClr val="dk1"/>
                </a:solidFill>
              </a:rPr>
              <a:t>excel</a:t>
            </a:r>
            <a:r>
              <a:rPr lang="es-CO" sz="1600">
                <a:solidFill>
                  <a:schemeClr val="dk1"/>
                </a:solidFill>
              </a:rPr>
              <a:t>) sobre pedidos entregados y pendientes.</a:t>
            </a:r>
            <a:endParaRPr b="1" sz="2100">
              <a:solidFill>
                <a:schemeClr val="dk1"/>
              </a:solidFill>
            </a:endParaRPr>
          </a:p>
          <a:p>
            <a:pPr indent="-3619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lang="es-CO" sz="1600">
                <a:solidFill>
                  <a:schemeClr val="dk1"/>
                </a:solidFill>
              </a:rPr>
              <a:t>RF-006 – Visualizar estado de operarios: </a:t>
            </a:r>
            <a:r>
              <a:rPr lang="es-CO" sz="1600">
                <a:solidFill>
                  <a:schemeClr val="dk1"/>
                </a:solidFill>
              </a:rPr>
              <a:t>Consultar el estado actual de los operarios (activo, inactiv</a:t>
            </a:r>
            <a:r>
              <a:rPr lang="es-CO" sz="1600">
                <a:solidFill>
                  <a:schemeClr val="dk1"/>
                </a:solidFill>
              </a:rPr>
              <a:t>o</a:t>
            </a:r>
            <a:r>
              <a:rPr lang="es-CO" sz="1600">
                <a:solidFill>
                  <a:schemeClr val="dk1"/>
                </a:solidFill>
              </a:rPr>
              <a:t>, en proceso, retrasado, disponible).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OPERARIO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b="1" lang="es-CO" sz="1600">
                <a:solidFill>
                  <a:schemeClr val="dk1"/>
                </a:solidFill>
              </a:rPr>
              <a:t>RF-007 – Actualizar datos personales: </a:t>
            </a:r>
            <a:r>
              <a:rPr lang="es-CO" sz="1600">
                <a:solidFill>
                  <a:schemeClr val="dk1"/>
                </a:solidFill>
              </a:rPr>
              <a:t>Modificar su información personal y de contacto.</a:t>
            </a:r>
            <a:endParaRPr sz="2300"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b="1" lang="es-CO" sz="1600">
                <a:solidFill>
                  <a:schemeClr val="dk1"/>
                </a:solidFill>
              </a:rPr>
              <a:t>RF-008 – Consultar rendimiento: </a:t>
            </a:r>
            <a:r>
              <a:rPr lang="es-CO" sz="1600">
                <a:solidFill>
                  <a:schemeClr val="dk1"/>
                </a:solidFill>
              </a:rPr>
              <a:t>Visualizar las tareas completadas y su nivel de eficiencia.</a:t>
            </a:r>
            <a:endParaRPr sz="2300">
              <a:latin typeface="Calibri"/>
              <a:ea typeface="Calibri"/>
              <a:cs typeface="Calibri"/>
              <a:sym typeface="Calibri"/>
            </a:endParaRPr>
          </a:p>
          <a:p>
            <a:pPr indent="-374650" lvl="0" marL="457200" rtl="0" algn="l">
              <a:spcBef>
                <a:spcPts val="0"/>
              </a:spcBef>
              <a:spcAft>
                <a:spcPts val="0"/>
              </a:spcAft>
              <a:buSzPts val="2300"/>
              <a:buChar char="•"/>
            </a:pPr>
            <a:r>
              <a:rPr b="1" lang="es-CO" sz="1600">
                <a:solidFill>
                  <a:schemeClr val="dk1"/>
                </a:solidFill>
              </a:rPr>
              <a:t>RF-009 – Gestionar tareas: </a:t>
            </a:r>
            <a:r>
              <a:rPr lang="es-CO" sz="1600">
                <a:solidFill>
                  <a:schemeClr val="dk1"/>
                </a:solidFill>
              </a:rPr>
              <a:t>Visualizar las tareas asignadas y reportar avances.</a:t>
            </a:r>
            <a:endParaRPr sz="1600">
              <a:solidFill>
                <a:schemeClr val="dk1"/>
              </a:solidFill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lang="es-CO" sz="1600">
                <a:solidFill>
                  <a:schemeClr val="dk1"/>
                </a:solidFill>
              </a:rPr>
              <a:t>RF-010 – Consultar tareas activas: </a:t>
            </a:r>
            <a:r>
              <a:rPr lang="es-CO" sz="1600">
                <a:solidFill>
                  <a:schemeClr val="dk1"/>
                </a:solidFill>
              </a:rPr>
              <a:t>Visualizar las tareas en proceso y pendientes.</a:t>
            </a:r>
            <a:endParaRPr sz="1600">
              <a:solidFill>
                <a:schemeClr val="dk1"/>
              </a:solidFill>
            </a:endParaRPr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</a:pPr>
            <a:r>
              <a:rPr b="1" lang="es-CO" sz="1600">
                <a:solidFill>
                  <a:schemeClr val="dk1"/>
                </a:solidFill>
              </a:rPr>
              <a:t>RF-011 – Consultar historial de reportes: </a:t>
            </a:r>
            <a:r>
              <a:rPr lang="es-CO" sz="1600">
                <a:solidFill>
                  <a:schemeClr val="dk1"/>
                </a:solidFill>
              </a:rPr>
              <a:t>Visualizar el historial de reportes enviados y su estado.</a:t>
            </a:r>
            <a:endParaRPr sz="2100">
              <a:solidFill>
                <a:schemeClr val="dk1"/>
              </a:solidFill>
            </a:endParaRPr>
          </a:p>
          <a:p>
            <a:pPr indent="-1714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4"/>
          <p:cNvSpPr txBox="1"/>
          <p:nvPr/>
        </p:nvSpPr>
        <p:spPr>
          <a:xfrm>
            <a:off x="882562" y="267986"/>
            <a:ext cx="4983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Requisitos Funcionales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8" cy="1089928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14"/>
          <p:cNvSpPr txBox="1"/>
          <p:nvPr/>
        </p:nvSpPr>
        <p:spPr>
          <a:xfrm>
            <a:off x="882562" y="1477556"/>
            <a:ext cx="8988600" cy="57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b="1" lang="es-CO" sz="1500">
                <a:solidFill>
                  <a:schemeClr val="dk1"/>
                </a:solidFill>
              </a:rPr>
              <a:t>RF-012 – Gestionar cuenta personal: </a:t>
            </a:r>
            <a:r>
              <a:rPr lang="es-CO" sz="1500">
                <a:solidFill>
                  <a:schemeClr val="dk1"/>
                </a:solidFill>
              </a:rPr>
              <a:t>Modificar su información personal y datos de contacto.</a:t>
            </a:r>
            <a:r>
              <a:rPr b="0" i="0" lang="es-CO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b="1" lang="es-CO" sz="1500">
                <a:solidFill>
                  <a:schemeClr val="dk1"/>
                </a:solidFill>
              </a:rPr>
              <a:t>RF-013 – Consultar pedidos: </a:t>
            </a:r>
            <a:r>
              <a:rPr lang="es-CO" sz="1500">
                <a:solidFill>
                  <a:schemeClr val="dk1"/>
                </a:solidFill>
              </a:rPr>
              <a:t>Visualizar los pedidos realizados y el estado del envío</a:t>
            </a:r>
            <a:r>
              <a:rPr b="0" i="0" lang="es-CO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de la producción pendiente.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b="1" lang="es-CO" sz="1500">
                <a:solidFill>
                  <a:schemeClr val="dk1"/>
                </a:solidFill>
              </a:rPr>
              <a:t>RF-014 – Consultar entregas y producción: </a:t>
            </a:r>
            <a:r>
              <a:rPr lang="es-CO" sz="1500">
                <a:solidFill>
                  <a:schemeClr val="dk1"/>
                </a:solidFill>
              </a:rPr>
              <a:t>Verificar faltantes de material, tiempos de entrega y cortes activos o en proceso.</a:t>
            </a:r>
            <a:endParaRPr sz="2200">
              <a:latin typeface="Calibri"/>
              <a:ea typeface="Calibri"/>
              <a:cs typeface="Calibri"/>
              <a:sym typeface="Calibri"/>
            </a:endParaRPr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b="1" lang="es-CO" sz="1500">
                <a:solidFill>
                  <a:schemeClr val="dk1"/>
                </a:solidFill>
              </a:rPr>
              <a:t>RF-015 – Descargar soportes: </a:t>
            </a:r>
            <a:r>
              <a:rPr lang="es-CO" sz="1500">
                <a:solidFill>
                  <a:schemeClr val="dk1"/>
                </a:solidFill>
              </a:rPr>
              <a:t>Descargar comprobantes de reposición de materiales.</a:t>
            </a:r>
            <a:endParaRPr sz="15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CENTRO DE SOPORTE 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</a:pPr>
            <a:r>
              <a:rPr b="1" lang="es-CO" sz="1500">
                <a:solidFill>
                  <a:schemeClr val="dk1"/>
                </a:solidFill>
              </a:rPr>
              <a:t>RF-016 – Acceso a comprobantes: </a:t>
            </a:r>
            <a:r>
              <a:rPr lang="es-CO" sz="1500">
                <a:solidFill>
                  <a:schemeClr val="dk1"/>
                </a:solidFill>
              </a:rPr>
              <a:t>Permitir la busqueda de comprobante por número de orden, visualizar, descargar pdf.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</a:pPr>
            <a:r>
              <a:rPr b="1" lang="es-CO" sz="1500">
                <a:solidFill>
                  <a:schemeClr val="dk1"/>
                </a:solidFill>
              </a:rPr>
              <a:t>RF-017 – Consultar información de contacto: </a:t>
            </a:r>
            <a:r>
              <a:rPr lang="es-CO" sz="1500">
                <a:solidFill>
                  <a:schemeClr val="dk1"/>
                </a:solidFill>
              </a:rPr>
              <a:t>Permitir la visualización de los datos de contacto y horarios de atención.</a:t>
            </a:r>
            <a:endParaRPr sz="1500">
              <a:solidFill>
                <a:schemeClr val="dk1"/>
              </a:solidFill>
            </a:endParaRPr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</a:pPr>
            <a:r>
              <a:rPr b="1" lang="es-CO" sz="1500">
                <a:solidFill>
                  <a:schemeClr val="dk1"/>
                </a:solidFill>
              </a:rPr>
              <a:t>RF-018 – Consultar preguntas frecuentes: </a:t>
            </a:r>
            <a:r>
              <a:rPr lang="es-CO" sz="1500">
                <a:solidFill>
                  <a:schemeClr val="dk1"/>
                </a:solidFill>
              </a:rPr>
              <a:t>Permitir el acceso a las preguntas frecuentes y sus respuestas.</a:t>
            </a:r>
            <a:endParaRPr sz="1900">
              <a:solidFill>
                <a:schemeClr val="dk1"/>
              </a:solidFill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5"/>
          <p:cNvSpPr txBox="1"/>
          <p:nvPr/>
        </p:nvSpPr>
        <p:spPr>
          <a:xfrm>
            <a:off x="882562" y="586886"/>
            <a:ext cx="5526864" cy="676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Requisitos No Funcionales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9" name="Google Shape;20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8" cy="1089928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5"/>
          <p:cNvSpPr txBox="1"/>
          <p:nvPr/>
        </p:nvSpPr>
        <p:spPr>
          <a:xfrm>
            <a:off x="882562" y="2329132"/>
            <a:ext cx="4250154" cy="29405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∙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RNF-001 (Rendimiento): &lt;2 segundos de respuesta en consultas comunes.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∙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RNF-002 (Disponibilidad): 99.5% mensual.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∙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RNF-003 (Seguridad): Contraseñas cifradas, HTTPS, control de roles.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∙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RNF-004 (Escalabilidad): Soporte para crecimiento de usuarios/datos.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5"/>
          <p:cNvSpPr txBox="1"/>
          <p:nvPr/>
        </p:nvSpPr>
        <p:spPr>
          <a:xfrm>
            <a:off x="6409426" y="2329132"/>
            <a:ext cx="4034494" cy="262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∙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RNF-005 (Usabilidad): Interfaz intuitiva, accesible en PC y tablets.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∙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RNF-006 (Mantenibilidad): Código modular, documentación técnica.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∙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RNF-007 (Backup): Copias automáticas diarias.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∙"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RNF-008 (Localización): Soporte para formatos de fecha y moneda local.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5"/>
          <p:cNvSpPr txBox="1"/>
          <p:nvPr/>
        </p:nvSpPr>
        <p:spPr>
          <a:xfrm>
            <a:off x="4596000" y="56219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LINK AQUÍ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1"/>
          <p:cNvSpPr txBox="1"/>
          <p:nvPr/>
        </p:nvSpPr>
        <p:spPr>
          <a:xfrm>
            <a:off x="882562" y="586886"/>
            <a:ext cx="4983400" cy="6765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Mockup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8" cy="1089928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1"/>
          <p:cNvSpPr txBox="1"/>
          <p:nvPr/>
        </p:nvSpPr>
        <p:spPr>
          <a:xfrm>
            <a:off x="3048719" y="5194758"/>
            <a:ext cx="60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LINK AQUÍ</a:t>
            </a:r>
            <a:endParaRPr b="0" i="0" sz="1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82562" y="1868988"/>
            <a:ext cx="4669136" cy="2725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2931" y="1845191"/>
            <a:ext cx="4672616" cy="27259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aaca26eea_0_0"/>
          <p:cNvSpPr txBox="1"/>
          <p:nvPr/>
        </p:nvSpPr>
        <p:spPr>
          <a:xfrm>
            <a:off x="882562" y="296886"/>
            <a:ext cx="4983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II </a:t>
            </a:r>
            <a:r>
              <a:rPr b="1" lang="es-CO" sz="36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TRIMESTRE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7" name="Google Shape;227;g3aaaca26eea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9" cy="1089929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g3aaaca26eea_0_0"/>
          <p:cNvSpPr txBox="1"/>
          <p:nvPr/>
        </p:nvSpPr>
        <p:spPr>
          <a:xfrm>
            <a:off x="931825" y="1746300"/>
            <a:ext cx="9443700" cy="386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s-CO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CONTEXTUALIZACIÓN</a:t>
            </a:r>
            <a:endParaRPr b="1"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s-CO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TEXTICODE es un aplicativo web creado para mejorar la gestión interna de una empresa de confecciones. Facilita el control del inventario, la organización de la producción y la administración de tareas, permitiendo que los procesos manuales se vuelvan digitales, más rápidos y ordenados.</a:t>
            </a:r>
            <a:endParaRPr b="1"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s-CO" sz="2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28d10d754_0_55"/>
          <p:cNvSpPr txBox="1"/>
          <p:nvPr/>
        </p:nvSpPr>
        <p:spPr>
          <a:xfrm>
            <a:off x="1161740" y="436667"/>
            <a:ext cx="98685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Ficha Técnica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234" name="Google Shape;234;g3a28d10d754_0_55"/>
          <p:cNvCxnSpPr/>
          <p:nvPr/>
        </p:nvCxnSpPr>
        <p:spPr>
          <a:xfrm>
            <a:off x="1597340" y="1452480"/>
            <a:ext cx="8997300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35" name="Google Shape;235;g3a28d10d754_0_55"/>
          <p:cNvSpPr txBox="1"/>
          <p:nvPr/>
        </p:nvSpPr>
        <p:spPr>
          <a:xfrm>
            <a:off x="1526775" y="2189143"/>
            <a:ext cx="94374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ficha técnica reúne información clave del proyecto, incluyendo el </a:t>
            </a:r>
            <a:r>
              <a:rPr b="1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formato de costos</a:t>
            </a: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y el </a:t>
            </a:r>
            <a:r>
              <a:rPr b="1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análisis de proveedores</a:t>
            </a: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Este documento permite evaluar los recursos necesarios, comparar opciones disponibles y seleccionar las alternativas más adecuadas para garantizar la viabilidad y eficiencia del </a:t>
            </a:r>
            <a:r>
              <a:rPr lang="es-CO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funcionamiento</a:t>
            </a: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6" name="Google Shape;236;g3a28d10d754_0_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64174" y="5698571"/>
            <a:ext cx="1159429" cy="1159429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g3a28d10d754_0_55"/>
          <p:cNvSpPr txBox="1"/>
          <p:nvPr/>
        </p:nvSpPr>
        <p:spPr>
          <a:xfrm>
            <a:off x="693794" y="6093621"/>
            <a:ext cx="60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Cotizaciones</a:t>
            </a:r>
            <a:endParaRPr b="0" i="0" sz="1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g3a28d10d754_0_55"/>
          <p:cNvSpPr txBox="1"/>
          <p:nvPr/>
        </p:nvSpPr>
        <p:spPr>
          <a:xfrm>
            <a:off x="4869669" y="6093633"/>
            <a:ext cx="60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FICHA TÉCNICA</a:t>
            </a:r>
            <a:endParaRPr b="0" i="0" sz="1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a28d10d754_0_0"/>
          <p:cNvSpPr txBox="1"/>
          <p:nvPr/>
        </p:nvSpPr>
        <p:spPr>
          <a:xfrm>
            <a:off x="1161690" y="560717"/>
            <a:ext cx="98685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Casos De Uso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244" name="Google Shape;244;g3a28d10d754_0_0"/>
          <p:cNvCxnSpPr/>
          <p:nvPr/>
        </p:nvCxnSpPr>
        <p:spPr>
          <a:xfrm>
            <a:off x="1613140" y="1576380"/>
            <a:ext cx="8997300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245" name="Google Shape;245;g3a28d10d754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64174" y="5698571"/>
            <a:ext cx="1159429" cy="1159429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g3a28d10d754_0_0"/>
          <p:cNvSpPr txBox="1"/>
          <p:nvPr/>
        </p:nvSpPr>
        <p:spPr>
          <a:xfrm>
            <a:off x="1742536" y="2829561"/>
            <a:ext cx="8738700" cy="23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Los casos de uso son una herramienta del análisis de sistemas que permite describir cómo los usuarios interactúan con el sistema para cumplir diferentes objetivos. Se dividen en </a:t>
            </a:r>
            <a:r>
              <a:rPr b="1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diagrama de casos de uso</a:t>
            </a: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que representa visualmente las interacciones, y </a:t>
            </a:r>
            <a:r>
              <a:rPr b="1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casos de uso extendidos</a:t>
            </a: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que detallan paso a paso el funcionamiento de cada proceso. </a:t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a28d10d754_0_9"/>
          <p:cNvSpPr txBox="1"/>
          <p:nvPr/>
        </p:nvSpPr>
        <p:spPr>
          <a:xfrm>
            <a:off x="771525" y="296875"/>
            <a:ext cx="65865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Diagrama De Caso</a:t>
            </a:r>
            <a:r>
              <a:rPr b="1" lang="es-CO" sz="36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s</a:t>
            </a: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 De Uso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2" name="Google Shape;252;g3a28d10d754_0_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9" cy="1089929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g3a28d10d754_0_9"/>
          <p:cNvSpPr txBox="1"/>
          <p:nvPr/>
        </p:nvSpPr>
        <p:spPr>
          <a:xfrm>
            <a:off x="3048719" y="5194758"/>
            <a:ext cx="60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LINK AQUÍ</a:t>
            </a:r>
            <a:endParaRPr b="0" i="0" sz="1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4" name="Google Shape;254;g3a28d10d754_0_9" title="WhatsApp Image 2025-11-11 at 9.06.00 PM.jpe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1525" y="1384675"/>
            <a:ext cx="3648852" cy="48899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g3a28d10d754_0_9" title="WhatsApp Image 2025-11-11 at 9.06.10 PM.jpe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90200" y="1384675"/>
            <a:ext cx="3795745" cy="48899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a28d10d754_0_19"/>
          <p:cNvSpPr txBox="1"/>
          <p:nvPr/>
        </p:nvSpPr>
        <p:spPr>
          <a:xfrm>
            <a:off x="882550" y="296875"/>
            <a:ext cx="60945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Casos De Uso Extendido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1" name="Google Shape;261;g3a28d10d754_0_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9" cy="1089929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g3a28d10d754_0_19"/>
          <p:cNvSpPr txBox="1"/>
          <p:nvPr/>
        </p:nvSpPr>
        <p:spPr>
          <a:xfrm>
            <a:off x="3048744" y="5998408"/>
            <a:ext cx="60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O" sz="18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LINK AQUÍ</a:t>
            </a:r>
            <a:endParaRPr b="0" i="0" sz="1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3" name="Google Shape;263;g3a28d10d754_0_19" title="TEXTIIICODE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77125" y="1033625"/>
            <a:ext cx="3465250" cy="4904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g3a28d10d754_0_19" title="TEXTIIIIIIIIICODE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143725" y="1056800"/>
            <a:ext cx="3635226" cy="51450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a28d10d754_0_29"/>
          <p:cNvSpPr txBox="1"/>
          <p:nvPr/>
        </p:nvSpPr>
        <p:spPr>
          <a:xfrm>
            <a:off x="1161740" y="436667"/>
            <a:ext cx="98685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Base De Datos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270" name="Google Shape;270;g3a28d10d754_0_29"/>
          <p:cNvCxnSpPr/>
          <p:nvPr/>
        </p:nvCxnSpPr>
        <p:spPr>
          <a:xfrm>
            <a:off x="1597340" y="1452480"/>
            <a:ext cx="8997300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71" name="Google Shape;271;g3a28d10d754_0_29"/>
          <p:cNvSpPr txBox="1"/>
          <p:nvPr/>
        </p:nvSpPr>
        <p:spPr>
          <a:xfrm>
            <a:off x="1526775" y="2189143"/>
            <a:ext cx="94374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base de datos es el componente encargado de guardar y organizar la información del sistema. El </a:t>
            </a:r>
            <a:r>
              <a:rPr b="1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Entidad-Relación</a:t>
            </a: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se utiliza para representar de forma gráfica los elementos principales y cómo se conectan entre sí, mientras que el </a:t>
            </a:r>
            <a:r>
              <a:rPr b="1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Relacional</a:t>
            </a: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traduce ese diseño a tablas que pueden implementarse en un sistema de gestión de bases de datos.</a:t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2" name="Google Shape;272;g3a28d10d754_0_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64174" y="5698571"/>
            <a:ext cx="1159429" cy="11594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a28d10d754_0_38"/>
          <p:cNvSpPr txBox="1"/>
          <p:nvPr/>
        </p:nvSpPr>
        <p:spPr>
          <a:xfrm>
            <a:off x="828975" y="606325"/>
            <a:ext cx="60945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Modelo Entidad-Relación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8" name="Google Shape;278;g3a28d10d754_0_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9" cy="1089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g3a28d10d754_0_38">
            <a:hlinkClick r:id="rId5"/>
          </p:cNvPr>
          <p:cNvSpPr txBox="1"/>
          <p:nvPr/>
        </p:nvSpPr>
        <p:spPr>
          <a:xfrm>
            <a:off x="3138469" y="6267558"/>
            <a:ext cx="60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Modelo Entidad - Relación</a:t>
            </a:r>
            <a:endParaRPr b="0" i="0" sz="1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0" name="Google Shape;280;g3a28d10d754_0_38" title="ER_Texticode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277875" y="1435225"/>
            <a:ext cx="9636241" cy="46799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a28d10d754_0_47"/>
          <p:cNvSpPr txBox="1"/>
          <p:nvPr/>
        </p:nvSpPr>
        <p:spPr>
          <a:xfrm>
            <a:off x="828975" y="606325"/>
            <a:ext cx="60945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i="0" lang="es-CO" sz="36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Modelo Relacional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6" name="Google Shape;286;g3a28d10d754_0_4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9" cy="1089929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g3a28d10d754_0_47"/>
          <p:cNvSpPr txBox="1"/>
          <p:nvPr/>
        </p:nvSpPr>
        <p:spPr>
          <a:xfrm>
            <a:off x="3048744" y="6227683"/>
            <a:ext cx="60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MODELO RELACIONAL</a:t>
            </a:r>
            <a:endParaRPr b="0" i="0" sz="1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8" name="Google Shape;288;g3a28d10d754_0_47" title="MR_Texticode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756550" y="1225950"/>
            <a:ext cx="4963725" cy="5001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aa645e6632_0_1"/>
          <p:cNvSpPr txBox="1"/>
          <p:nvPr/>
        </p:nvSpPr>
        <p:spPr>
          <a:xfrm>
            <a:off x="1161740" y="436667"/>
            <a:ext cx="98685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lang="es-CO" sz="60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Diccionario de Datos</a:t>
            </a: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 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294" name="Google Shape;294;g3aa645e6632_0_1"/>
          <p:cNvCxnSpPr/>
          <p:nvPr/>
        </p:nvCxnSpPr>
        <p:spPr>
          <a:xfrm>
            <a:off x="1597340" y="1452480"/>
            <a:ext cx="8997300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295" name="Google Shape;295;g3aa645e6632_0_1"/>
          <p:cNvSpPr txBox="1"/>
          <p:nvPr/>
        </p:nvSpPr>
        <p:spPr>
          <a:xfrm>
            <a:off x="1335750" y="2200125"/>
            <a:ext cx="9520500" cy="30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lang="es-CO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</a:t>
            </a:r>
            <a:r>
              <a:rPr i="1" lang="es-CO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Diccionario de Datos en desarrollo</a:t>
            </a:r>
            <a:r>
              <a:rPr lang="es-CO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es un documento técnico que describe de forma clara y organizada los elementos de información que forman parte de una base de datos o sistema en construcción. Su objetivo principal es definir cada dato, su estructura, tipo, longitud, formato, origen, reglas de validación y relaciones. Durante la etapa de desarrollo, este diccionario se actualiza constantemente conforme se ajustan los requerimientos, permitiendo comunicación precisa entre analistas, desarrolladores y diseñadores de bases de datos.</a:t>
            </a:r>
            <a:endParaRPr i="0" sz="3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6" name="Google Shape;296;g3aa645e6632_0_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64174" y="5698571"/>
            <a:ext cx="1159429" cy="1159429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g3aa645e6632_0_1"/>
          <p:cNvSpPr txBox="1"/>
          <p:nvPr/>
        </p:nvSpPr>
        <p:spPr>
          <a:xfrm>
            <a:off x="738994" y="5995483"/>
            <a:ext cx="60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Diccionario de Datos y Normalización</a:t>
            </a:r>
            <a:endParaRPr b="0" i="0" sz="1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g3aa645e6632_0_1">
            <a:hlinkClick r:id="rId6"/>
          </p:cNvPr>
          <p:cNvSpPr txBox="1"/>
          <p:nvPr/>
        </p:nvSpPr>
        <p:spPr>
          <a:xfrm>
            <a:off x="4409094" y="5995471"/>
            <a:ext cx="60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Diccionario de Datos</a:t>
            </a:r>
            <a:endParaRPr b="0" i="0" sz="1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a28d10d754_0_71"/>
          <p:cNvSpPr txBox="1"/>
          <p:nvPr/>
        </p:nvSpPr>
        <p:spPr>
          <a:xfrm>
            <a:off x="1161740" y="436667"/>
            <a:ext cx="98685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Diagrama De Despliegue 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304" name="Google Shape;304;g3a28d10d754_0_71"/>
          <p:cNvCxnSpPr/>
          <p:nvPr/>
        </p:nvCxnSpPr>
        <p:spPr>
          <a:xfrm>
            <a:off x="1597340" y="1452480"/>
            <a:ext cx="8997300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305" name="Google Shape;305;g3a28d10d754_0_71"/>
          <p:cNvSpPr txBox="1"/>
          <p:nvPr/>
        </p:nvSpPr>
        <p:spPr>
          <a:xfrm>
            <a:off x="1377300" y="2840593"/>
            <a:ext cx="9437400" cy="23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</a:pPr>
            <a:r>
              <a:rPr b="0" i="0" lang="es-CO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 diagrama de despliegue es un elemento del modelado UML que representa la estructura física del sistema, mostrando cómo los componentes de software se instalan y comunican dentro de la infraestructura tecnológica. Este diagrama facilita la comprensión de la arquitectura del proyecto, permitiendo planificar adecuadamente la distribución, ejecución y mantenimiento de los recursos del sistema.</a:t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6" name="Google Shape;306;g3a28d10d754_0_7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64174" y="5698571"/>
            <a:ext cx="1159429" cy="11594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aa13390986_2_0"/>
          <p:cNvSpPr txBox="1"/>
          <p:nvPr/>
        </p:nvSpPr>
        <p:spPr>
          <a:xfrm>
            <a:off x="828975" y="606325"/>
            <a:ext cx="60945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Diagrama De Despliegue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2" name="Google Shape;312;g3aa13390986_2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9" cy="1089929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g3aa13390986_2_0"/>
          <p:cNvSpPr txBox="1"/>
          <p:nvPr/>
        </p:nvSpPr>
        <p:spPr>
          <a:xfrm>
            <a:off x="3048744" y="5998408"/>
            <a:ext cx="60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DIAGRAMA DE DESPLIEGUE</a:t>
            </a:r>
            <a:endParaRPr b="0" i="0" sz="1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4" name="Google Shape;314;g3aa13390986_2_0" title="Diagrama De Despliegue TEXTICODE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540225" y="1435225"/>
            <a:ext cx="6603025" cy="441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b081f5ea10_0_8"/>
          <p:cNvSpPr txBox="1"/>
          <p:nvPr/>
        </p:nvSpPr>
        <p:spPr>
          <a:xfrm>
            <a:off x="828975" y="606325"/>
            <a:ext cx="60945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AA00"/>
              </a:buClr>
              <a:buSzPts val="3600"/>
              <a:buFont typeface="Work Sans"/>
              <a:buNone/>
            </a:pPr>
            <a:r>
              <a:rPr b="1" lang="es-CO" sz="3600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Diagrama De Clases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0" name="Google Shape;320;g3b081f5ea10_0_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55547" y="5768072"/>
            <a:ext cx="1089929" cy="1089929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g3b081f5ea10_0_8"/>
          <p:cNvSpPr txBox="1"/>
          <p:nvPr/>
        </p:nvSpPr>
        <p:spPr>
          <a:xfrm>
            <a:off x="3048744" y="5998408"/>
            <a:ext cx="6094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DIAGRAMA DE </a:t>
            </a:r>
            <a:r>
              <a:rPr lang="es-CO" sz="1800" u="sng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CLASES</a:t>
            </a:r>
            <a:endParaRPr b="0" i="0" sz="1800" u="sng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2" name="Google Shape;322;g3b081f5ea10_0_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28300" y="1435225"/>
            <a:ext cx="9125235" cy="44107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b081f5ea10_0_0"/>
          <p:cNvSpPr txBox="1"/>
          <p:nvPr/>
        </p:nvSpPr>
        <p:spPr>
          <a:xfrm>
            <a:off x="1161690" y="560717"/>
            <a:ext cx="98685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D4D4C"/>
              </a:buClr>
              <a:buSzPts val="6000"/>
              <a:buFont typeface="Work Sans"/>
              <a:buNone/>
            </a:pPr>
            <a:r>
              <a:rPr b="1" i="0" lang="es-CO" sz="6000" u="none" cap="none" strike="noStrike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Repositorio GitHub</a:t>
            </a:r>
            <a:endParaRPr b="1" i="0" sz="7200" u="none" cap="none" strike="noStrike">
              <a:solidFill>
                <a:srgbClr val="4D4D4C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328" name="Google Shape;328;g3b081f5ea10_0_0"/>
          <p:cNvCxnSpPr/>
          <p:nvPr/>
        </p:nvCxnSpPr>
        <p:spPr>
          <a:xfrm>
            <a:off x="1613140" y="1576380"/>
            <a:ext cx="8997300" cy="0"/>
          </a:xfrm>
          <a:prstGeom prst="straightConnector1">
            <a:avLst/>
          </a:prstGeom>
          <a:noFill/>
          <a:ln cap="flat" cmpd="sng" w="12700">
            <a:solidFill>
              <a:srgbClr val="38AA00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329" name="Google Shape;329;g3b081f5ea10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964174" y="5698571"/>
            <a:ext cx="1159429" cy="115942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g3b081f5ea10_0_0"/>
          <p:cNvSpPr txBox="1"/>
          <p:nvPr/>
        </p:nvSpPr>
        <p:spPr>
          <a:xfrm>
            <a:off x="4935675" y="5949898"/>
            <a:ext cx="23523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CO" sz="1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REPOSITORIO GITHUB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1" name="Google Shape;331;g3b081f5ea10_0_0"/>
          <p:cNvPicPr preferRelativeResize="0"/>
          <p:nvPr/>
        </p:nvPicPr>
        <p:blipFill rotWithShape="1">
          <a:blip r:embed="rId6">
            <a:alphaModFix/>
          </a:blip>
          <a:srcRect b="4620" l="0" r="0" t="8851"/>
          <a:stretch/>
        </p:blipFill>
        <p:spPr>
          <a:xfrm>
            <a:off x="2138300" y="1951000"/>
            <a:ext cx="7915402" cy="385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2020-10-01T23:51:28Z</dcterms:created>
  <dc:creator>Jorge Enrique Pedraza Sanchez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