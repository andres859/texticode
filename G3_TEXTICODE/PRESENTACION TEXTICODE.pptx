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</p:sldIdLst>
  <p:sldSz cy="6858000" cx="12192000"/>
  <p:notesSz cx="6858000" cy="9144000"/>
  <p:embeddedFontLst>
    <p:embeddedFont>
      <p:font typeface="Work Sans"/>
      <p:regular r:id="rId34"/>
      <p:bold r:id="rId35"/>
      <p:italic r:id="rId36"/>
      <p:boldItalic r:id="rId37"/>
    </p:embeddedFont>
    <p:embeddedFont>
      <p:font typeface="Work Sans Light"/>
      <p:regular r:id="rId38"/>
      <p:bold r:id="rId39"/>
      <p:italic r:id="rId40"/>
      <p:boldItalic r:id="rId4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595">
          <p15:clr>
            <a:srgbClr val="A4A3A4"/>
          </p15:clr>
        </p15:guide>
        <p15:guide id="2" pos="3840">
          <p15:clr>
            <a:srgbClr val="A4A3A4"/>
          </p15:clr>
        </p15:guide>
        <p15:guide id="3" orient="horz" pos="187">
          <p15:clr>
            <a:srgbClr val="A4A3A4"/>
          </p15:clr>
        </p15:guide>
      </p15:sldGuideLst>
    </p:ext>
    <p:ext uri="GoogleSlidesCustomDataVersion2">
      <go:slidesCustomData xmlns:go="http://customooxmlschemas.google.com/" r:id="rId42" roundtripDataSignature="AMtx7mh8YuIHLwb5ga493tIl0GACuF8aa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595" orient="horz"/>
        <p:guide pos="3840"/>
        <p:guide pos="187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WorkSansLight-italic.fntdata"/><Relationship Id="rId20" Type="http://schemas.openxmlformats.org/officeDocument/2006/relationships/slide" Target="slides/slide15.xml"/><Relationship Id="rId42" Type="http://customschemas.google.com/relationships/presentationmetadata" Target="metadata"/><Relationship Id="rId41" Type="http://schemas.openxmlformats.org/officeDocument/2006/relationships/font" Target="fonts/WorkSansLight-boldItalic.fntdata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font" Target="fonts/WorkSans-bold.fntdata"/><Relationship Id="rId12" Type="http://schemas.openxmlformats.org/officeDocument/2006/relationships/slide" Target="slides/slide7.xml"/><Relationship Id="rId34" Type="http://schemas.openxmlformats.org/officeDocument/2006/relationships/font" Target="fonts/WorkSans-regular.fntdata"/><Relationship Id="rId15" Type="http://schemas.openxmlformats.org/officeDocument/2006/relationships/slide" Target="slides/slide10.xml"/><Relationship Id="rId37" Type="http://schemas.openxmlformats.org/officeDocument/2006/relationships/font" Target="fonts/WorkSans-boldItalic.fntdata"/><Relationship Id="rId14" Type="http://schemas.openxmlformats.org/officeDocument/2006/relationships/slide" Target="slides/slide9.xml"/><Relationship Id="rId36" Type="http://schemas.openxmlformats.org/officeDocument/2006/relationships/font" Target="fonts/WorkSans-italic.fntdata"/><Relationship Id="rId17" Type="http://schemas.openxmlformats.org/officeDocument/2006/relationships/slide" Target="slides/slide12.xml"/><Relationship Id="rId39" Type="http://schemas.openxmlformats.org/officeDocument/2006/relationships/font" Target="fonts/WorkSansLight-bold.fntdata"/><Relationship Id="rId16" Type="http://schemas.openxmlformats.org/officeDocument/2006/relationships/slide" Target="slides/slide11.xml"/><Relationship Id="rId38" Type="http://schemas.openxmlformats.org/officeDocument/2006/relationships/font" Target="fonts/WorkSansLight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s-CO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1" name="Google Shape;91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06" name="Google Shape;106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3" name="Google Shape;123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32" name="Google Shape;13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1" name="Google Shape;141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81c32e2ed6_5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1" name="Google Shape;151;g381c32e2ed6_5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85" name="Google Shape;18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2" name="Google Shape;192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99" name="Google Shape;199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06" name="Google Shape;206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5" name="Google Shape;215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28d10d754_0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24" name="Google Shape;224;g3a28d10d754_0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28d10d754_0_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32" name="Google Shape;232;g3a28d10d754_0_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a28d10d754_0_1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41" name="Google Shape;241;g3a28d10d754_0_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3a28d10d754_0_2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0" name="Google Shape;250;g3a28d10d754_0_2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3a28d10d754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58" name="Google Shape;258;g3a28d10d754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g3a28d10d754_0_47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66" name="Google Shape;266;g3a28d10d754_0_4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28d10d754_0_55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74" name="Google Shape;274;g3a28d10d754_0_5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a28d10d754_0_7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83" name="Google Shape;283;g3a28d10d754_0_7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a13390986_2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1" name="Google Shape;291;g3aa13390986_2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a645e6632_0_1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99" name="Google Shape;299;g3aa645e6632_0_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08" name="Google Shape;308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17" name="Google Shape;317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0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22" name="Google Shape;22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2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22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3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3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4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24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24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8" name="Google Shape;48;p24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24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0" name="Google Shape;50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6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6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6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2" name="Google Shape;62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7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7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7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9" name="Google Shape;69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8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9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9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seño personalizado">
  <p:cSld name="Diseño personalizado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7" name="Google Shape;87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8" name="Google Shape;88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8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18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jpg"/><Relationship Id="rId4" Type="http://schemas.openxmlformats.org/officeDocument/2006/relationships/image" Target="../media/image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12.jpg"/><Relationship Id="rId6" Type="http://schemas.openxmlformats.org/officeDocument/2006/relationships/image" Target="../media/image11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3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6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document/d/1TosudO8JLikDicc8Ex-7Va4dWE-66tit/edit?usp=drive_link&amp;ouid=113659387585359605470&amp;rtpof=true&amp;sd=true" TargetMode="External"/><Relationship Id="rId6" Type="http://schemas.openxmlformats.org/officeDocument/2006/relationships/image" Target="../media/image10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image" Target="../media/image5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jpg"/><Relationship Id="rId4" Type="http://schemas.openxmlformats.org/officeDocument/2006/relationships/hyperlink" Target="https://docs.google.com/forms/d/e/1FAIpQLSf-RKvUDCraIcyOMUgIjDYKn3bmsXYWimLTlS92LObaUB3zjw/viewform?usp=header" TargetMode="External"/><Relationship Id="rId5" Type="http://schemas.openxmlformats.org/officeDocument/2006/relationships/hyperlink" Target="https://docs.google.com/document/d/1taKtHnxvOXIXR3arrPYYHmLlRrHQMpFo/edit?usp=sharing&amp;ouid=107740585974173227636&amp;rtpof=true&amp;sd=true" TargetMode="External"/><Relationship Id="rId6" Type="http://schemas.openxmlformats.org/officeDocument/2006/relationships/hyperlink" Target="https://docs.google.com/document/d/17mseleKlui6jHnc3qSBMWj1Vjr6C0TUn/edit?usp=sharing&amp;ouid=107740585974173227636&amp;rtpof=true&amp;sd=true" TargetMode="External"/><Relationship Id="rId7" Type="http://schemas.openxmlformats.org/officeDocument/2006/relationships/image" Target="../media/image8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document/d/1K85s-HWqOLKj4Y1XOKTLUl-C1uDbMr2M/edit?usp=drive_link&amp;ouid=115880299684122349630&amp;rtpof=true&amp;sd=true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www.figma.com/make/YzKnclNJJi4Rm7ar4beuJf/Login-Screen-for-TEXTICODE?node-id=0-1&amp;p=f&amp;t=ee0UowpePSEz9F5m-0&amp;fullscreen=1" TargetMode="External"/><Relationship Id="rId6" Type="http://schemas.openxmlformats.org/officeDocument/2006/relationships/image" Target="../media/image15.png"/><Relationship Id="rId7" Type="http://schemas.openxmlformats.org/officeDocument/2006/relationships/image" Target="../media/image1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document/d/1cbMk6LRzxlFt9LUVF_R6tSL6AqVK7VYf/edit?usp=drive_link&amp;ouid=115880299684122349630&amp;rtpof=true&amp;sd=true" TargetMode="External"/><Relationship Id="rId6" Type="http://schemas.openxmlformats.org/officeDocument/2006/relationships/image" Target="../media/image17.jpg"/><Relationship Id="rId7" Type="http://schemas.openxmlformats.org/officeDocument/2006/relationships/image" Target="../media/image14.jp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document/d/1fXqal2bbecflhqs2Cw8RhCoQn9wV25mQ/edit?usp=drive_link&amp;ouid=104180249574821475983&amp;rtpof=true&amp;sd=true" TargetMode="External"/><Relationship Id="rId6" Type="http://schemas.openxmlformats.org/officeDocument/2006/relationships/image" Target="../media/image16.png"/><Relationship Id="rId7" Type="http://schemas.openxmlformats.org/officeDocument/2006/relationships/image" Target="../media/image19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ZUJXWQzEbcxG2jqQbqsTMzJaPPIA0jiL/view?usp=drive_link" TargetMode="External"/><Relationship Id="rId6" Type="http://schemas.openxmlformats.org/officeDocument/2006/relationships/hyperlink" Target="https://drive.google.com/file/d/1ZUJXWQzEbcxG2jqQbqsTMzJaPPIA0jiL/view?usp=drive_link" TargetMode="External"/><Relationship Id="rId7" Type="http://schemas.openxmlformats.org/officeDocument/2006/relationships/image" Target="../media/image20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7uS7fqQbD5GdV2ZmyGXGxr-gxgbHNgr6/view?usp=drive_link" TargetMode="External"/><Relationship Id="rId6" Type="http://schemas.openxmlformats.org/officeDocument/2006/relationships/image" Target="../media/image22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spreadsheets/d/1i_cR8Aapn68T9n2BOBk4zsCeHNAQN3nd/edit?usp=drive_link&amp;ouid=104180249574821475983&amp;rtpof=true&amp;sd=true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jpg"/><Relationship Id="rId4" Type="http://schemas.openxmlformats.org/officeDocument/2006/relationships/image" Target="../media/image8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rive.google.com/file/d/1_gCtaMEBjyv7BjxjLhL5vmiaKMgmexoE/view?usp=drive_link" TargetMode="External"/><Relationship Id="rId6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docs.google.com/spreadsheets/d/1zckuoWQI5VekrXnENcG2glpvgim1Pvk7/edit?usp=drive_link&amp;ouid=104180249574821475983&amp;rtpof=true&amp;sd=true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jpg"/><Relationship Id="rId4" Type="http://schemas.openxmlformats.org/officeDocument/2006/relationships/image" Target="../media/image8.png"/><Relationship Id="rId5" Type="http://schemas.openxmlformats.org/officeDocument/2006/relationships/hyperlink" Target="https://github.com/andres859/TEXTICODE" TargetMode="External"/><Relationship Id="rId6" Type="http://schemas.openxmlformats.org/officeDocument/2006/relationships/image" Target="../media/image18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"/>
          <p:cNvSpPr txBox="1"/>
          <p:nvPr/>
        </p:nvSpPr>
        <p:spPr>
          <a:xfrm>
            <a:off x="995422" y="1947262"/>
            <a:ext cx="64536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PROYECTO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Work Sans"/>
              <a:buNone/>
            </a:pPr>
            <a:r>
              <a:rPr b="1" i="0" lang="es-CO" sz="5400" u="none" cap="none" strike="noStrike">
                <a:solidFill>
                  <a:srgbClr val="3F3F3F"/>
                </a:solidFill>
                <a:latin typeface="Work Sans"/>
                <a:ea typeface="Work Sans"/>
                <a:cs typeface="Work Sans"/>
                <a:sym typeface="Work Sans"/>
              </a:rPr>
              <a:t>TEXTICODE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94" name="Google Shape;94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9810930" y="4719906"/>
            <a:ext cx="1482486" cy="1482486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"/>
          <p:cNvSpPr txBox="1"/>
          <p:nvPr/>
        </p:nvSpPr>
        <p:spPr>
          <a:xfrm>
            <a:off x="1152450" y="4118575"/>
            <a:ext cx="4317000" cy="7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Andres Felipe Lancheros Rincon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Camilo Andres Tibambre Montaña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Andres Castro Quiroga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1" i="0" lang="es-CO" sz="1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Kevin Stevan Montenegro Wagner</a:t>
            </a:r>
            <a:endParaRPr b="1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"/>
          <p:cNvSpPr txBox="1"/>
          <p:nvPr/>
        </p:nvSpPr>
        <p:spPr>
          <a:xfrm>
            <a:off x="775387" y="140386"/>
            <a:ext cx="42390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4000"/>
              <a:buFont typeface="Work Sans"/>
              <a:buNone/>
            </a:pPr>
            <a:r>
              <a:rPr b="1" i="0" lang="es-CO" sz="40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Tabla de contenido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"/>
          <p:cNvSpPr txBox="1"/>
          <p:nvPr/>
        </p:nvSpPr>
        <p:spPr>
          <a:xfrm>
            <a:off x="975716" y="1504938"/>
            <a:ext cx="4552200" cy="53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Contextualización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Planteamiento Del Problema.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Pregunta Del Problema.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Justificación.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Alcances.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BPMN.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AutoNum type="arabicPeriod"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Objetivos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7.1 Objetivo General.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7.2 Objetivos Específicos.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8. Técnicas De Recolección.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8.1 Encuesta.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	8.2 Entrevista.</a:t>
            </a:r>
            <a:endParaRPr b="0" i="0" sz="1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2" name="Google Shape;102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22480" y="5666118"/>
            <a:ext cx="1269520" cy="126952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2"/>
          <p:cNvSpPr txBox="1"/>
          <p:nvPr/>
        </p:nvSpPr>
        <p:spPr>
          <a:xfrm>
            <a:off x="6592756" y="1418988"/>
            <a:ext cx="6094500" cy="52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9. Requisitos Funcionales.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10. Requisitos No Funcionales.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11. Mockups.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12. Casos De Uso.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12.1 Diagrama De Caso De Uso.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12.2 Casos De Uso Extendido.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13. Base De Datos.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13.1 Modelo Entidad Relación.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13.2 Modelo Relacional.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14. Ficha Técnica.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15. Diagrama De Despliegue.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16. Repositorio GitHub.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17. Agradecimientos.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3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Contextualización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09" name="Google Shape;109;p3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110" name="Google Shape;110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Un grupo de personas sentadas en una tienda&#10;&#10;Descripción generada automáticamente" id="111" name="Google Shape;111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161690" y="1861408"/>
            <a:ext cx="4203541" cy="313518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que contiene interior, persona, tabla, equipaje&#10;&#10;Descripción generada automáticamente" id="112" name="Google Shape;112;p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561826" y="1861407"/>
            <a:ext cx="4203540" cy="31351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Planteamiento del problema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18" name="Google Shape;118;p4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19" name="Google Shape;119;p4"/>
          <p:cNvSpPr txBox="1"/>
          <p:nvPr/>
        </p:nvSpPr>
        <p:spPr>
          <a:xfrm>
            <a:off x="1483743" y="3013501"/>
            <a:ext cx="9256143" cy="15696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empresa enfrenta dificultades en la organización de la producción y el control del inventario, el manejo manual genera retrasos, errores en los registros y desorden en la distribución de tareas, afectando la eficiencia y el cumplimiento de tiempos.</a:t>
            </a:r>
            <a:endParaRPr b="0" i="0" sz="24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0" name="Google Shape;12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77909" y="5674744"/>
            <a:ext cx="1183256" cy="118325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Pregunta problema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26" name="Google Shape;126;p5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7" name="Google Shape;127;p5"/>
          <p:cNvSpPr txBox="1"/>
          <p:nvPr/>
        </p:nvSpPr>
        <p:spPr>
          <a:xfrm>
            <a:off x="1526875" y="2474893"/>
            <a:ext cx="9437299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¿Cómo desarrollar un aplicativo web que optimice la gestión de inventario y producción en la empresa de confecciones?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28" name="Google Shape;128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apeles sueltos: Preguntas de investigación" id="129" name="Google Shape;12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54807" y="3988874"/>
            <a:ext cx="3682385" cy="21910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"/>
          <p:cNvSpPr txBox="1"/>
          <p:nvPr/>
        </p:nvSpPr>
        <p:spPr>
          <a:xfrm>
            <a:off x="424749" y="560725"/>
            <a:ext cx="10605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Justificación del proyecto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35" name="Google Shape;135;p8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6" name="Google Shape;136;p8"/>
          <p:cNvSpPr txBox="1"/>
          <p:nvPr/>
        </p:nvSpPr>
        <p:spPr>
          <a:xfrm>
            <a:off x="1233576" y="2179080"/>
            <a:ext cx="97248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aplicativo digitalizará los procesos de inventario y producción, reduciendo errores, ahorrando tiempo y mejorando el control de los recursos. 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37" name="Google Shape;137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030309" y="5800955"/>
            <a:ext cx="1133553" cy="113355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Justificación – Investigación de Operaciones, Administración, Evaluación de Proyectos y Metodología de la Investigación" id="138" name="Google Shape;138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157820" y="3912080"/>
            <a:ext cx="1876359" cy="23852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9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Alcance organizacional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9"/>
          <p:cNvSpPr txBox="1"/>
          <p:nvPr/>
        </p:nvSpPr>
        <p:spPr>
          <a:xfrm>
            <a:off x="882562" y="1676575"/>
            <a:ext cx="3827461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Digitalización de procesos manuales.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Optimización de tiempos y reducción de errores.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Mayor gestión de recursos y producción.</a:t>
            </a:r>
            <a:endParaRPr b="0" i="0" sz="18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45" name="Google Shape;145;p9"/>
          <p:cNvSpPr txBox="1"/>
          <p:nvPr/>
        </p:nvSpPr>
        <p:spPr>
          <a:xfrm>
            <a:off x="882562" y="3651851"/>
            <a:ext cx="60945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Límites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9"/>
          <p:cNvSpPr txBox="1"/>
          <p:nvPr/>
        </p:nvSpPr>
        <p:spPr>
          <a:xfrm>
            <a:off x="882562" y="4425677"/>
            <a:ext cx="6094562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contempla ventas ni facturación.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incluye nómina ni contabilidad.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 integra plataformas externas en esta versión.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7" name="Google Shape;147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ágenes de Alcances - Descarga gratuita en Freepik" id="148" name="Google Shape;148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370973" y="1934444"/>
            <a:ext cx="3827461" cy="279818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81c32e2ed6_5_0"/>
          <p:cNvSpPr txBox="1"/>
          <p:nvPr/>
        </p:nvSpPr>
        <p:spPr>
          <a:xfrm>
            <a:off x="882562" y="586886"/>
            <a:ext cx="49833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BPMN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4" name="Google Shape;154;g381c32e2ed6_5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81c32e2ed6_5_0"/>
          <p:cNvSpPr txBox="1"/>
          <p:nvPr/>
        </p:nvSpPr>
        <p:spPr>
          <a:xfrm>
            <a:off x="4596000" y="6134275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6" name="Google Shape;156;g381c32e2ed6_5_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576325" y="1356661"/>
            <a:ext cx="6948396" cy="45660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Objetivo general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62" name="Google Shape;162;p6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63" name="Google Shape;163;p6"/>
          <p:cNvSpPr txBox="1"/>
          <p:nvPr/>
        </p:nvSpPr>
        <p:spPr>
          <a:xfrm>
            <a:off x="1690777" y="2474893"/>
            <a:ext cx="8842076" cy="95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aplicativo web que apoye la gestión de inventario y producción en la empresa.</a:t>
            </a:r>
            <a:endParaRPr b="0" i="0" sz="2800" u="none" cap="none" strike="noStrike">
              <a:solidFill>
                <a:srgbClr val="000000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64" name="Google Shape;16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689939"/>
            <a:ext cx="1168061" cy="116806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oncepto De Objetivos Con Bombilla Y Pasos Dibujados a Mano. Símbolo De  Inspiración De La Motivación De La Idea De Liderazgo. Imagen de archivo -  Imagen de metas, individualidad: 250922783" id="165" name="Google Shape;165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26147" y="3801553"/>
            <a:ext cx="3571336" cy="23838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"/>
          <p:cNvSpPr txBox="1"/>
          <p:nvPr/>
        </p:nvSpPr>
        <p:spPr>
          <a:xfrm>
            <a:off x="882562" y="586886"/>
            <a:ext cx="4238996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Objetivos específicos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7"/>
          <p:cNvSpPr txBox="1"/>
          <p:nvPr/>
        </p:nvSpPr>
        <p:spPr>
          <a:xfrm>
            <a:off x="813103" y="2009093"/>
            <a:ext cx="4112580" cy="36933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un sistema de inicio de sesión con roles diferenciados (administrador y operarios) para garantizar seguridad y control en el acceso a la información.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Permitir la gestión del inventario de materiales y prendas, con funcionalidades de registro, edición, eliminación y alertas de stock.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Diseñar un módulo de asignación de tareas para operarios con registro de avances y finalización de procesos de producción.</a:t>
            </a:r>
            <a:endParaRPr b="0" i="0" sz="1800" u="none" cap="none" strike="noStrike">
              <a:solidFill>
                <a:schemeClr val="dk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sp>
        <p:nvSpPr>
          <p:cNvPr id="172" name="Google Shape;172;p7"/>
          <p:cNvSpPr txBox="1"/>
          <p:nvPr/>
        </p:nvSpPr>
        <p:spPr>
          <a:xfrm>
            <a:off x="6096000" y="1997839"/>
            <a:ext cx="4673361" cy="3477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Controlar y registrar las fechas de inicio, avance y entrega de la producción, asegurando un flujo organizado.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Implementar reportes automáticos que         permitan visualizar el estado del inventario, producción y rendimiento de los operarios.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b="0" i="0" lang="es-CO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Desarrollar un sistema de control para clientes, con información de productos, tiempos de entrega, comprobantes de entrega y calidad de materiales.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3" name="Google Shape;173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886536" y="5648863"/>
            <a:ext cx="1209137" cy="12091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0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Técnicas de Recolección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179" name="Google Shape;179;p10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80" name="Google Shape;180;p10"/>
          <p:cNvSpPr txBox="1"/>
          <p:nvPr/>
        </p:nvSpPr>
        <p:spPr>
          <a:xfrm>
            <a:off x="1393124" y="4502048"/>
            <a:ext cx="9437400" cy="115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Work Sans Light"/>
              <a:buNone/>
            </a:pP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ENCUESTA</a:t>
            </a:r>
            <a:r>
              <a:rPr b="0" i="0" lang="es-CO" sz="2300" u="none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</a:rPr>
              <a:t>                                       </a:t>
            </a: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ENTREVISTA</a:t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t/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300" u="sng" cap="none" strike="noStrike">
                <a:solidFill>
                  <a:schemeClr val="accent1"/>
                </a:solidFill>
                <a:latin typeface="Work Sans Light"/>
                <a:ea typeface="Work Sans Light"/>
                <a:cs typeface="Work Sans Light"/>
                <a:sym typeface="Work Sans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TÉCNICAS APLICADAS Y CONCLUSIONES</a:t>
            </a:r>
            <a:endParaRPr b="0" i="0" sz="2300" u="none" cap="none" strike="noStrike">
              <a:solidFill>
                <a:schemeClr val="accent1"/>
              </a:solidFill>
              <a:latin typeface="Work Sans Light"/>
              <a:ea typeface="Work Sans Light"/>
              <a:cs typeface="Work Sans Light"/>
              <a:sym typeface="Work Sans Light"/>
            </a:endParaRPr>
          </a:p>
        </p:txBody>
      </p:sp>
      <p:pic>
        <p:nvPicPr>
          <p:cNvPr id="181" name="Google Shape;181;p1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0"/>
          <p:cNvSpPr txBox="1"/>
          <p:nvPr/>
        </p:nvSpPr>
        <p:spPr>
          <a:xfrm>
            <a:off x="1742536" y="2829561"/>
            <a:ext cx="87387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00"/>
              <a:buFont typeface="Arial"/>
              <a:buNone/>
            </a:pPr>
            <a:r>
              <a:rPr b="0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</a:t>
            </a:r>
            <a:r>
              <a:rPr b="1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encuesta y la entrevista</a:t>
            </a:r>
            <a:r>
              <a:rPr b="0" i="0" lang="es-CO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realizan para conocer las necesidades y opiniones de las personas que participan en los procesos de la empresas de confección. Con esto se busca entender mejor las dificultades y lo que esperan de una herramienta de gestión. </a:t>
            </a:r>
            <a:endParaRPr b="0" i="0" sz="19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2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8" name="Google Shape;188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89" name="Google Shape;189;p12"/>
          <p:cNvSpPr txBox="1"/>
          <p:nvPr/>
        </p:nvSpPr>
        <p:spPr>
          <a:xfrm>
            <a:off x="882562" y="2021504"/>
            <a:ext cx="9954883" cy="336989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RF-001 – Autenticación y autorización: El sistema debe permitir el ingreso de usuarios mediante credenciales seguras y asignar permisos según 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RF-002 – Gestión de usuarios: Crear, editar, desactivar usuarios y asignar roles.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RF-003 – Gestión de clientes: Se podrá visualizar los clientes que maneja la empresa, y se podrán recibir y enviar comprobantes de entrega respecto a sus pedidos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RF-004 – Consultar entregas de cortes: Visualizar los tiempos de entrega de los cortes asignados e imprimir comprobantes. 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13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196" name="Google Shape;196;p13"/>
          <p:cNvSpPr txBox="1"/>
          <p:nvPr/>
        </p:nvSpPr>
        <p:spPr>
          <a:xfrm>
            <a:off x="888520" y="1784806"/>
            <a:ext cx="9954883" cy="443634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ADMINISTRADOR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RF-005 – Gestionar inventarios: Registrar entradas y salidas, controlar lotes y definir stocks mínimos.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RF-006 – Reportes de producción: Revisar avances de las prendas, pedidos entregados mensualmente y pedidos pendientes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RF-007 – Gestión de producción: Registrar avances de las prendas, registrar rendimiento de operarios. Se podrá visualizar los tiempos de entrega de los pedidos respecto al cliente que le corresponda.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OPERARIO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RF-008 – Actualización de datos: Modificar la información única/personal del operario.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RF-009 – Rendimiento: Se podrá evidenciar las tareas ya completadas y su eficiencia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RF-010 – Tareas: Visualizar las tareas designadas y reportar los avances correspondientes.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14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4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2" name="Google Shape;202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p14"/>
          <p:cNvSpPr txBox="1"/>
          <p:nvPr/>
        </p:nvSpPr>
        <p:spPr>
          <a:xfrm>
            <a:off x="882562" y="1784806"/>
            <a:ext cx="8988724" cy="37335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CLIENTE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RF-011 – Cuenta personal: Modificar la información única/personal del cliente.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RF-012 – Gestión de pedidos: Visualizar los pedidos recibidos y el estado del envío de la producción pendiente.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RF-013 – Consultar pedidos y entregas: Verificar la falta de material en producción, consultar tiempos de entrega y cortes activos o en proceso.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Char char="•"/>
            </a:pPr>
            <a:r>
              <a:rPr b="0" i="0" lang="es-CO" sz="18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RF-014 – Soportes: Se podrán descargar comprobantes de la reposición de materiales faltantes. 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15"/>
          <p:cNvSpPr txBox="1"/>
          <p:nvPr/>
        </p:nvSpPr>
        <p:spPr>
          <a:xfrm>
            <a:off x="882562" y="586886"/>
            <a:ext cx="5526864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Requisitos No Funcionales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9" name="Google Shape;20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15"/>
          <p:cNvSpPr txBox="1"/>
          <p:nvPr/>
        </p:nvSpPr>
        <p:spPr>
          <a:xfrm>
            <a:off x="882562" y="2329132"/>
            <a:ext cx="4250154" cy="294054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RNF-001 (Rendimiento): &lt;2 segundos de respuesta en consultas comunes.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RNF-002 (Disponibilidad): 99.5% mensual.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RNF-003 (Seguridad): Contraseñas cifradas, HTTPS, control de roles.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RNF-004 (Escalabilidad): Soporte para crecimiento de usuarios/datos.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15"/>
          <p:cNvSpPr txBox="1"/>
          <p:nvPr/>
        </p:nvSpPr>
        <p:spPr>
          <a:xfrm>
            <a:off x="6409426" y="2329132"/>
            <a:ext cx="4034494" cy="262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RNF-005 (Usabilidad): Interfaz intuitiva, accesible en PC y tablets.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RNF-006 (Mantenibilidad): Código modular, documentación técnica.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RNF-007 (Backup): Copias automáticas diarias.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∙"/>
            </a:pPr>
            <a:r>
              <a:rPr b="0" i="0" lang="es-CO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RNF-008 (Localización): Soporte para formatos de fecha y moneda local.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15"/>
          <p:cNvSpPr txBox="1"/>
          <p:nvPr/>
        </p:nvSpPr>
        <p:spPr>
          <a:xfrm>
            <a:off x="4596000" y="5621900"/>
            <a:ext cx="3000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1"/>
          <p:cNvSpPr txBox="1"/>
          <p:nvPr/>
        </p:nvSpPr>
        <p:spPr>
          <a:xfrm>
            <a:off x="882562" y="586886"/>
            <a:ext cx="4983400" cy="6765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Mockup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18" name="Google Shape;218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8" cy="1089928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11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20" name="Google Shape;220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82562" y="1868988"/>
            <a:ext cx="4669136" cy="2725947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2931" y="1845191"/>
            <a:ext cx="4672616" cy="272594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28d10d754_0_0"/>
          <p:cNvSpPr txBox="1"/>
          <p:nvPr/>
        </p:nvSpPr>
        <p:spPr>
          <a:xfrm>
            <a:off x="1161690" y="56071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Casos De Uso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27" name="Google Shape;227;g3a28d10d754_0_0"/>
          <p:cNvCxnSpPr/>
          <p:nvPr/>
        </p:nvCxnSpPr>
        <p:spPr>
          <a:xfrm>
            <a:off x="1613140" y="15763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228" name="Google Shape;228;g3a28d10d754_0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29" name="Google Shape;229;g3a28d10d754_0_0"/>
          <p:cNvSpPr txBox="1"/>
          <p:nvPr/>
        </p:nvSpPr>
        <p:spPr>
          <a:xfrm>
            <a:off x="1742536" y="2829561"/>
            <a:ext cx="87387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Los casos de uso son una herramienta del análisis de sistemas que permite describir cómo los usuarios interactúan con el sistema para cumplir diferentes objetivos. Se dividen en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diagrama de casos de uso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representa visualmente las interacciones, y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casos de uso extendidos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, que detallan paso a paso el funcionamiento de cada proceso. 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a28d10d754_0_9"/>
          <p:cNvSpPr txBox="1"/>
          <p:nvPr/>
        </p:nvSpPr>
        <p:spPr>
          <a:xfrm>
            <a:off x="882550" y="58687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Caso De Uso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35" name="Google Shape;235;g3a28d10d754_0_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g3a28d10d754_0_9"/>
          <p:cNvSpPr txBox="1"/>
          <p:nvPr/>
        </p:nvSpPr>
        <p:spPr>
          <a:xfrm>
            <a:off x="3048719" y="519475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37" name="Google Shape;237;g3a28d10d754_0_9" title="WhatsApp Image 2025-11-11 at 9.06.00 PM.jpeg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1525" y="1384675"/>
            <a:ext cx="3648852" cy="488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g3a28d10d754_0_9" title="WhatsApp Image 2025-11-11 at 9.06.10 PM.jpeg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7290200" y="1384675"/>
            <a:ext cx="3795745" cy="48899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28d10d754_0_19"/>
          <p:cNvSpPr txBox="1"/>
          <p:nvPr/>
        </p:nvSpPr>
        <p:spPr>
          <a:xfrm>
            <a:off x="882550" y="29687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Casos De Uso Extendido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44" name="Google Shape;244;g3a28d10d754_0_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g3a28d10d754_0_19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LINK 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6" name="Google Shape;246;g3a28d10d754_0_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28700" y="1040900"/>
            <a:ext cx="4169098" cy="4889958"/>
          </a:xfrm>
          <a:prstGeom prst="rect">
            <a:avLst/>
          </a:prstGeom>
          <a:noFill/>
          <a:ln>
            <a:noFill/>
          </a:ln>
        </p:spPr>
      </p:pic>
      <p:pic>
        <p:nvPicPr>
          <p:cNvPr id="247" name="Google Shape;247;g3a28d10d754_0_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77050" y="1214450"/>
            <a:ext cx="3997350" cy="4584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a28d10d754_0_29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Base De Datos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53" name="Google Shape;253;g3a28d10d754_0_29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4" name="Google Shape;254;g3a28d10d754_0_29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base de datos es el componente encargado de guardar y organizar la información del sistema.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Entidad-Relación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se utiliza para representar de forma gráfica los elementos principales y cómo se conectan entre sí, mientras que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Relacional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traduce ese diseño a tablas que pueden implementarse en un sistema de gestión de bases de datos.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55" name="Google Shape;255;g3a28d10d754_0_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a28d10d754_0_38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Entidad-Relación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1" name="Google Shape;261;g3a28d10d754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g3a28d10d754_0_38">
            <a:hlinkClick r:id="rId5"/>
          </p:cNvPr>
          <p:cNvSpPr txBox="1"/>
          <p:nvPr/>
        </p:nvSpPr>
        <p:spPr>
          <a:xfrm>
            <a:off x="3048744" y="5998408"/>
            <a:ext cx="6094500" cy="410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</a:rPr>
              <a:t>LINK </a:t>
            </a:r>
            <a:r>
              <a:rPr b="0" i="0" lang="es-CO" sz="1800" u="sng" cap="none" strike="noStrike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6"/>
              </a:rPr>
              <a:t>AQUÍ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63" name="Google Shape;263;g3a28d10d754_0_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050741" y="1482242"/>
            <a:ext cx="7339458" cy="41284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28d10d754_0_47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i="0" lang="es-CO" sz="3600" u="none" cap="none" strike="noStrike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Modelo Relacional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69" name="Google Shape;269;g3a28d10d754_0_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70" name="Google Shape;270;g3a28d10d754_0_47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MODELO RELACIONAL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1" name="Google Shape;271;g3a28d10d754_0_47" title="DIAGRAMA_RELACIONAL.drawio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77825" y="1519300"/>
            <a:ext cx="6733583" cy="441078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a28d10d754_0_55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Ficha Técnica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77" name="Google Shape;277;g3a28d10d754_0_55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8" name="Google Shape;278;g3a28d10d754_0_55"/>
          <p:cNvSpPr txBox="1"/>
          <p:nvPr/>
        </p:nvSpPr>
        <p:spPr>
          <a:xfrm>
            <a:off x="1526775" y="2189143"/>
            <a:ext cx="9437400" cy="1939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La ficha técnica reúne información clave del proyecto, incluyendo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formato de costos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y el </a:t>
            </a:r>
            <a:r>
              <a:rPr b="1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análisis de proveedores</a:t>
            </a: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. Este documento permite evaluar los recursos necesarios, comparar opciones disponibles y seleccionar las alternativas más adecuadas para garantizar la viabilidad y eficiencia del desarrollo.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79" name="Google Shape;279;g3a28d10d754_0_5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280" name="Google Shape;280;g3a28d10d754_0_55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FICHA TÉCNICA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28d10d754_0_71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 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286" name="Google Shape;286;g3a28d10d754_0_71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87" name="Google Shape;287;g3a28d10d754_0_71"/>
          <p:cNvSpPr txBox="1"/>
          <p:nvPr/>
        </p:nvSpPr>
        <p:spPr>
          <a:xfrm>
            <a:off x="1377300" y="2840593"/>
            <a:ext cx="9437400" cy="23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b="0" i="0" lang="es-CO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diagrama de despliegue es un elemento del modelado UML que representa la estructura física del sistema, mostrando cómo los componentes de software se instalan y comunican dentro de la infraestructura tecnológica. Este diagrama facilita la comprensión de la arquitectura del proyecto, permitiendo planificar adecuadamente la distribución, ejecución y mantenimiento de los recursos del sistema.</a:t>
            </a:r>
            <a:endParaRPr b="0" i="0" sz="24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8" name="Google Shape;288;g3a28d10d754_0_7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a13390986_2_0"/>
          <p:cNvSpPr txBox="1"/>
          <p:nvPr/>
        </p:nvSpPr>
        <p:spPr>
          <a:xfrm>
            <a:off x="828975" y="606325"/>
            <a:ext cx="6094500" cy="6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8AA00"/>
              </a:buClr>
              <a:buSzPts val="3600"/>
              <a:buFont typeface="Work Sans"/>
              <a:buNone/>
            </a:pPr>
            <a:r>
              <a:rPr b="1" lang="es-CO" sz="3600">
                <a:solidFill>
                  <a:srgbClr val="38AA00"/>
                </a:solidFill>
                <a:latin typeface="Work Sans"/>
                <a:ea typeface="Work Sans"/>
                <a:cs typeface="Work Sans"/>
                <a:sym typeface="Work Sans"/>
              </a:rPr>
              <a:t>Diagrama De Despliegue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4" name="Google Shape;294;g3aa13390986_2_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55547" y="5768072"/>
            <a:ext cx="1089929" cy="1089929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g3aa13390986_2_0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DIAGRAMA DE DESPLIEGUE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96" name="Google Shape;296;g3aa13390986_2_0" title="Diagrama De Despliegue TEXTICODE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540225" y="1435225"/>
            <a:ext cx="6603025" cy="4410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g3aa645e6632_0_1"/>
          <p:cNvSpPr txBox="1"/>
          <p:nvPr/>
        </p:nvSpPr>
        <p:spPr>
          <a:xfrm>
            <a:off x="1161740" y="436667"/>
            <a:ext cx="98685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lang="es-CO" sz="6000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Diccionario de Datos</a:t>
            </a: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 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02" name="Google Shape;302;g3aa645e6632_0_1"/>
          <p:cNvCxnSpPr/>
          <p:nvPr/>
        </p:nvCxnSpPr>
        <p:spPr>
          <a:xfrm>
            <a:off x="1597340" y="1452480"/>
            <a:ext cx="8997300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3" name="Google Shape;303;g3aa645e6632_0_1"/>
          <p:cNvSpPr txBox="1"/>
          <p:nvPr/>
        </p:nvSpPr>
        <p:spPr>
          <a:xfrm>
            <a:off x="1335750" y="2200125"/>
            <a:ext cx="9520500" cy="30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El </a:t>
            </a:r>
            <a:r>
              <a:rPr i="1"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Diccionario de Datos en desarrollo</a:t>
            </a:r>
            <a:r>
              <a:rPr lang="es-CO"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es un documento técnico que describe de forma clara y organizada los elementos de información que forman parte de una base de datos o sistema en construcción. Su objetivo principal es definir cada dato, su estructura, tipo, longitud, formato, origen, reglas de validación y relaciones. Durante la etapa de desarrollo, este diccionario se actualiza constantemente conforme se ajustan los requerimientos, permitiendo comunicación precisa entre analistas, desarrolladores y diseñadores de bases de datos.</a:t>
            </a:r>
            <a:endParaRPr i="0" sz="37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04" name="Google Shape;304;g3aa645e6632_0_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05" name="Google Shape;305;g3aa645e6632_0_1"/>
          <p:cNvSpPr txBox="1"/>
          <p:nvPr/>
        </p:nvSpPr>
        <p:spPr>
          <a:xfrm>
            <a:off x="3048744" y="5998408"/>
            <a:ext cx="6094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Diccionario de Datos</a:t>
            </a:r>
            <a:endParaRPr b="0" i="0" sz="1800" u="none" cap="none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6"/>
          <p:cNvSpPr txBox="1"/>
          <p:nvPr/>
        </p:nvSpPr>
        <p:spPr>
          <a:xfrm>
            <a:off x="1161690" y="560717"/>
            <a:ext cx="9868619" cy="10156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D4D4C"/>
              </a:buClr>
              <a:buSzPts val="6000"/>
              <a:buFont typeface="Work Sans"/>
              <a:buNone/>
            </a:pPr>
            <a:r>
              <a:rPr b="1" i="0" lang="es-CO" sz="6000" u="none" cap="none" strike="noStrike">
                <a:solidFill>
                  <a:srgbClr val="4D4D4C"/>
                </a:solidFill>
                <a:latin typeface="Work Sans"/>
                <a:ea typeface="Work Sans"/>
                <a:cs typeface="Work Sans"/>
                <a:sym typeface="Work Sans"/>
              </a:rPr>
              <a:t>Repositorio GitHub</a:t>
            </a:r>
            <a:endParaRPr b="1" i="0" sz="7200" u="none" cap="none" strike="noStrike">
              <a:solidFill>
                <a:srgbClr val="4D4D4C"/>
              </a:solidFill>
              <a:latin typeface="Work Sans"/>
              <a:ea typeface="Work Sans"/>
              <a:cs typeface="Work Sans"/>
              <a:sym typeface="Work Sans"/>
            </a:endParaRPr>
          </a:p>
        </p:txBody>
      </p:sp>
      <p:cxnSp>
        <p:nvCxnSpPr>
          <p:cNvPr id="311" name="Google Shape;311;p16"/>
          <p:cNvCxnSpPr/>
          <p:nvPr/>
        </p:nvCxnSpPr>
        <p:spPr>
          <a:xfrm>
            <a:off x="1613140" y="1576380"/>
            <a:ext cx="8997351" cy="0"/>
          </a:xfrm>
          <a:prstGeom prst="straightConnector1">
            <a:avLst/>
          </a:prstGeom>
          <a:noFill/>
          <a:ln cap="flat" cmpd="sng" w="12700">
            <a:solidFill>
              <a:srgbClr val="38AA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312" name="Google Shape;312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4174" y="5698571"/>
            <a:ext cx="1159429" cy="115942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16"/>
          <p:cNvSpPr txBox="1"/>
          <p:nvPr/>
        </p:nvSpPr>
        <p:spPr>
          <a:xfrm>
            <a:off x="4935675" y="5949898"/>
            <a:ext cx="2352300" cy="3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s-CO" sz="1800" u="sng">
                <a:solidFill>
                  <a:schemeClr val="hlink"/>
                </a:solidFill>
                <a:latin typeface="Calibri"/>
                <a:ea typeface="Calibri"/>
                <a:cs typeface="Calibri"/>
                <a:sym typeface="Calibri"/>
                <a:hlinkClick r:id="rId5"/>
              </a:rPr>
              <a:t>REPOSITORIO GITHUB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4" name="Google Shape;314;p16"/>
          <p:cNvPicPr preferRelativeResize="0"/>
          <p:nvPr/>
        </p:nvPicPr>
        <p:blipFill rotWithShape="1">
          <a:blip r:embed="rId6">
            <a:alphaModFix/>
          </a:blip>
          <a:srcRect b="4619" l="0" r="0" t="8851"/>
          <a:stretch/>
        </p:blipFill>
        <p:spPr>
          <a:xfrm>
            <a:off x="2138300" y="1951000"/>
            <a:ext cx="7915402" cy="3852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2020-10-01T23:51:28Z</dcterms:created>
  <dc:creator>Jorge Enrique Pedraza Sanchez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